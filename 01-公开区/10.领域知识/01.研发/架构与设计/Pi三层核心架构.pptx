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74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1" r:id="rId11"/>
    <p:sldId id="262" r:id="rId12"/>
    <p:sldId id="260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开场先不讲三层架构，先建立一个最直观的印象：Pi 是什么。它是一个极简、透明、可完全拥有的 Agent Harness，口号是 Primitives, not features，以及 Change the harness, not your workflow——世上有很多 agent harness，但这一个是你的。中间四个节点是 Pi 最核心的运行循环：用户输入交给模型推理，模型决定是否调用工具，工具执行后把结果回灌，只要还有工具结果就回到输入再转一轮，直到模型给出最终答复。这就是一个 agent 最本质的样子，后面所有架构、事件、扩展都是围绕这个循环长出来的。底部一行是基本信息：文档在 pi.dev，MIT 开源、TypeScript 编写、支持十五家以上模型供应商、有四种运行形态。接下来的内容会从这个循环出发，逐层展开它是怎么被构建出来的。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这一页回答 Pi 是什么。先区分概念：大模型本身是无状态的，一次请求只回一条消息；agent harness 即智能体外壳，是包裹模型、驱动工具调用循环、管理上下文和安全的那层软件，把模型变成能干活的 Agent。Pi 的定位是：智能体外壳有很多，但这一个属于你。它有两重身份，既是开箱即用的终端编码助手，又是 pi-ai、pi-agent-core、pi-coding-agent、pi-tui 四个可分层复用的 TypeScript 包，MIT 开源，OpenClaw 等已基于它构建生产级 Agent。右侧是八个关键事实：开源、多供应商、四个默认工具、极简系统提示、树状会话、四种形态、生命周期钩子和自我改写能力。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 Pi 的设计哲学，核心是 Primitives, not features——给原语而不是成品功能。左边是官方明确列出的「刻意不做」清单：不内置 MCP、子 Agent、权限弹窗、计划模式、TODO 和后台 Bash，每一项都给出了用原语补齐的方式，比如用容器替代权限弹窗、用 tmux 派生后台任务。右边是同一份内核的四种使用形态：交互式 TUI、脚本化的 Print/JSON、语言无关的 RPC，以及 createAgentSession 的进程内 SDK 嵌入，OpenClaw 就是 SDK 嵌入的生产案例。底部一句话总结：改变外壳来适配你的工作流，而不是反过来。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这一页把 Pi 和四款主流终端编码 Agent 放在一起，从五个维度做定性对比，绿色高亮列是 Pi。需要特别说明模型支持这一行：Claude Code 和 Codex CLI 虽然原生分别绑定 Claude 和 OpenAI，但都可以通过兼容 API 端点或第三方代理接入 DeepSeek 等其他模型，区别在于 Pi 和 OpenCode 是原生多 provider 架构，不需要额外代理层。五个维度分别是总体框架、模型支持、内核与工具、扩展机制、归属与透明度。可以看到三种架构路线：Pi 是三层分层，每层可独立安装；Claude Code 和 Codex CLI 是一体化应用，功能内聚不可拆分；OpenCode 是应用加插件层；dsh 最彻底，一切即插件，基于 Cordis 内核。Pi 的差异化在于三层可独立使用、原生多 provider 无需代理、内核极简只有四个默认工具、扩展从零代码的 Markdown 到 TypeScript 的 Hook 全覆盖。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这一页用纵向树状图把 Pi 的整体架构讲清楚。最上面是四种运行入口，汇聚到中间三层核心包，箭头标了依赖方向：从上到下 L3 依赖 L2，L2 依赖 L1，L1 调供应商 SDK。右侧紫色虚线大框是扩展能力整体，挂载在 L3 上，框内分三组：绿色组是零代码 Markdown 类，模型可见自动注入，包括 AGENTS/SYSTEM 常驻项目规则、Prompt 模板斜杠展开、Skill 渐进披露能力包；琥珀色组是 TypeScript 代码类，模型无感知，包括自定义工具和 Extension Hook 生命周期拦截；灰色是 Theme 界面配置；底部 Pi Package 统一打包分发。扩展挂在 L3 上，不改变主依赖链。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这一页总览三层，箭头方向就是依赖方向。最左边绿色 pi-ai 是模型抽象层，把各家大模型 API 抹平成统一接口，管流式、模型元数据、成本、思考级别，还能用 openai-completions 路由接本地模型，它可以单独拿来做多模型网关。中间蓝色 pi-agent-core 是 Agent 引擎，提供 Agent 类和 Agent Loop、工具注册与校验、四级事件流、上下文状态以及 steer、followUp，可以单独嵌入你自己的后端。右边紫色 pi-coding-agent 是应用运行时，把引擎组装成开箱即用的终端编码助手，提供 CLI/TUI、内置工具、树状会话和整套扩展系统。关键原则是单向依赖，上层依赖下层、下层不感知上层，所以你可以只取任意一层。pi-tui 是被 L3 使用的独立终端 UI 库。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这是全场的路线图，共五个部分。第一部分认识 Pi，讲定位、设计哲学和同类对比，在第 2 到 4 页。第二部分总体架构，看技术栈全景树状图和三层总览，第 6 到 7 页。第三部分进入第一层 L1 pi-ai，讲模型抽象和流式调用，第 8 到 9 页。第四部分是第二层 L2 pi-agent-core，也是理解 Pi 的关键，核心 Loop、生命周期、steer 和 followUp、工具管线、上下文管理都在这里，第 10 到 15 页。第五部分是第三层 L3 pi-coding-agent 加上扩展体系，讲运行时、装配、会话树，以及六类扩展机制和选型决策，第 16 到 24 页。最后第 25 页是三层端到端协作，第 26、27 页给出全景速查表和总结资源。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这一页讲最底层 pi-ai。可以把它理解成一个会说话的模型客户端：你如果直接对接各家大模型，要重复处理流式分片、工具调用协议、思考字段、token 用量和各种报错，每家都不一样。pi-ai 用统一的 Provider 接口把这些收口，对上给 pi-agent-core 暴露 streamText、结构化输出和中断能力，模型可以随时替换；对下仍然调用各厂官方 SDK，能力和用量如实透出，不做有损封装。右边是六项核心能力：统一 Provider、流式 streamText、模型元数据与成本、跨厂商思考级别、结构化输出，以及通过 openai-completions 路由接入 Ollama、vLLM 等本地端点。要特别强调边界：pi-ai 不管 Agent 循环、不管工具执行、不管会话，那些是上两层的事。正因为边界干净，它可以单独拿出来做多模型网关、成本统计、模型评测或简单聊天。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这一页是 pi-ai 这一层的树状融汇总结。根节点是 pi-ai 统一模型抽象层，向下分三个主枝。第一个主枝是定位与边界：它是一个会说话的模型客户端，抹平各厂商在消息格式、流式、工具调用、用量上的差异；对上给 core 一套统一接口，模型可以随时替换；对下屏蔽供应商差异，底层仍然用各厂商官方 SDK；边界是不管循环、不管工具执行、不管会话持久化。第二个主枝是四项核心能力：Provider 工厂加模型元数据、统一的 Message 和 Tool 类型、事件流而不是一次性返回、可中断加成本现算。第三个主枝是一次流式调用的四步：选 Provider 和模型、组装统一请求、流式调用逐块到达、消费事件流。底部一句话点明设计原则：薄封装、无损 pass-through，这一层也可以独立拿出来做多模型网关、成本统计、评测和简单聊天。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 pi-agent-core。横向看：左边输入初始配置四项，中间循环引擎，右边输出四级事件。循环引擎内部顺序严格从上到下：步骤1组织上下文发模型，步骤2模型流式返回，步骤3工具并行执行，步骤4结果回灌，然后橙色虚线回环从步骤4绕回步骤1。关键改进是热更：它不是循环中的一步，而是顶部绿色旁路节点——运行中切模型、工具或提示词，不打断当前轮，绿色虚线向下指向步骤1，标注下一轮生效。从步骤3右侧引出判断菱形：用户输入怎么办？绿色 Enter 转向，工具批次一完成就中断，新输入立即注入下一轮；琥珀色 Alt+Enter 补充，排队等全部完成后才处理。右边输出四级事件流。底部边界说明 core 不含具体工具和界面，可独立嵌入。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这一页讲透为什么必须有 Loop。大模型本身是无状态的，你发一条它回一条，并不会自己动手。Agent 的自主性完全来自外面套的一个 while 循环：上面的状态机就是它的最小形态——用户输入后发送给模型，判断模型这次响应要不要调工具，要就执行工具、把结果作为新消息喂回去，再次请求模型，如此反复；一旦模型不再请求工具、直接给出答复，这一轮才结束。Pi 把这个循环组织成双层：外层是 Agent 会话，从 agent_start 到 agent_end，持有系统提示、模型、工具集和完整消息历史，配置改动在下一 turn 生效；内层是 Turn 循环，一次回车提交就是一个 turn，turn 内部可以发生很多次模型与工具的往返，turn 结束后外层会话仍然存活。理解了这个双层嵌套，就抓住了 pi-agent-core 的运行骨架。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这一页严格按时间顺序从上到下讲。最上面绿色启动阶段：目录信任检查、加载历史会话、发现资源、装载静态上下文，四个节点从左到右，最后一个有向下粗箭头进入中间 Turn 循环。中间蓝色框是每轮重复的 Turn 循环，五步从上到下：本轮开始、裁剪上下文 RAG、调模型流式输出、工具并行执行、本轮结束，每步之间有向下箭头，橙色虚线从底部绕回顶部表示循环。关键分叉在工具并行执行这一步：向右引出用户输入判断，绿色 Enter 转向，工具批次完成后立即中断，新输入注入下一轮；琥珀色 Alt+Enter 补充，不打断当前工具，新输入排队等全部完成后处理。循环结束后紫色向下箭头进入底部结束阶段：本轮运行结束、压缩前、分支切换关闭、切换模型，从左到右。整个生命周期一目了然。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这一页专门把 steer 和 followUp 这两个最容易混淆的原语用同一条时间线对比清楚。两边起点完全一样：一个 turn 正在进行，工具 A 在跑，B 和 C 在排队。左边 steer，用户按 Enter，等当前工具 A 一完成就立刻中断这个 turn，排队的 B、C 直接跳过不再执行，新输入被立即注入当前 turn 继续往下走——所以它是琥珀色的改道路径，第四步用红色虚线表示被跳过的工具。右边 followUp，用户按 Alt+Enter，新输入只是进队列，完全不打断，工具 A、B、C 按顺序全部自然跑完，turn_end 之后新输入才作为下一条进入下一 turn——所以它是蓝色的排队路径。底部四列把触发键、对排队工具的影响、新输入去向、典型用途并排对比。记忆口诀：要立刻改方向、紧急叫停用 Enter 的 steer；要补充要求、按顺序来用 Alt+Enter 的 followUp。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这一页把工具管线拆成五步。第一步定义工具，一个工具就是 name、label、description、用 TypeBox 写的 parameters，加上一个 execute 函数。第二步模型可见，名字和描述会随请求发给模型，模型靠描述判断什么时候、怎么调用，所以描述写得好不好直接决定工具会不会被用对。第三步参数校验，模型给出调用参数后，AJV 按 schema 校验，参数不合法直接拦下，把错误回灌让模型自我纠正，不会让坏参数进你的函数。第四步执行，execute 拿到参数和上下文 ctx 运行，多个工具可以并行，onUpdate 推流式进度。第五步双路返回，这是 Pi 一个很实用的设计：content 进消息历史喂回模型，要精炼、面向模型；details 给界面和日志，可以很详尽、面向人，而且不占模型上下文，比如读文件时 content 是文件内容，details 是路径、字节数、耗时。右下强调归属：core 只定义机制，内置的 read、bash、edit、write 等工具是上层 coding-agent 提供的；工具的本质是给模型新动作、模型主动调用，这和第 5 章要讲的、在幕后模型无感的 Extension 正好形成对照。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这一页讲上下文管理。左边树状图列出每轮发给模型的上下文四部分：系统提示词（角色规则和工具说明）、静态上下文（AGENTS.md 和技能索引）、历史消息（之前的对话和工具结果）、当前输入（你刚发的消息）。中间三步流程讲窗口有限怎么办：第一步裁剪旧消息，历史太长时砍掉最早几轮只留最近的；第二步 RAG 挑相关，从被砍掉的历史里按当前问题检索相关片段塞回来；第三步还是太长就压缩历史，把旧对话总结成摘要代替原始消息，这个压缩动作在 L3 触发。右边三个要点：上下文是模型一次能看到的全部文字，窗口有上限；core 只负责组织和裁剪，压缩和持久化是 L3 的事；每轮都重新拼，工具结果回灌后下一轮重新组织再发模型。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这一页是 pi-agent-core 的全景树状图，根节点向右分出五个分支。第一个输入初始配置：系统提示词、来自 pi-ai 的模型句柄、可用工具集加推理深度。第二个核心 Agent 循环：组织上下文发模型、模型流式返回、要工具就并行执行结果回灌。第三个输出四级事件，这是重点：为什么是四级？因为粒度从粗到细嵌套——L1 会话事件是整个 session 开始结束，L2 每轮事件是一轮开始结束，一个会话包含多轮；L3 消息事件是流式文本逐块返回，一轮包含多条消息；L4 工具事件是工具调用和结果，每条消息可以触发多个工具调用。右边青色卡片解释这个嵌套关系。第四个运行期热更：运行中切模型思考级别和提示词，下一轮安全点生效。第五个边界产品无关：不含具体工具和界面，但可以嵌入任意模型加自定义工具做成专属 Agent。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这一页讲最上层 pi-coding-agent，它是可以直接 npm 安装的完整产品，作用是把中间层 agent-core 装配成一个开箱即用的编码 Agent。中间六大能力：内置工具，默认 read、bash、edit、write 四个，可选 grep、find、ls 三个只读工具；JSONL 树状会话，每条消息有 id 和 parentId，支持 fork、clone、branch、tree 做分支回溯，崩溃最多丢一行；自动 compaction 在逼近窗口时总结历史；Skills 渐进披露，启动只载入索引、按需读全文，不撑爆 prompt cache；Extensions 和 Hooks 提供二十多个生命周期事件做幕后拦截改写；资源发现在启动时加载 AGENTS.md 和 SYSTEM.md。右上是配套的 pi-tui 终端界面，差分渲染、Markdown、多行编辑器；右中强调同一个内核支撑 TUI、Print/JSON、RPC、SDK 四种形态。左下是一个关键设计：系统提示只有约 1k token，相比典型编码 CLI 约 14k 少一个数量级，Pi 主张少堆规则、把智能留给模型。右下是安装方式，npm 全局安装包，pi 启动 TUI，pi -p 做一次性问答，协议是 MIT、语言是 TypeScript。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 pi-coding-agent 怎么实现，分两块。左边是启动装配五步：第一步做设置和信任检查，加载 API Key、模型和思考级别；第二步资源发现，找到 AGENTS.md、SYSTEM.md、skills、extensions 和注册的命令；第三步构造工具集，包括内置的 codingTools、只读工具和用户自定义工具；第四步调用 createAgentSession，把系统提示、模型、工具和 streamFn 作为 initialState 交给 agent-core，这正是三层衔接的落点；第五步选择形态运行，TUI、Print/JSON、RPC、SDK 共用同一个运行时。右边是它最有特色的 JSONL 树状会话：每条消息带 id 和 parentId，u 是用户消息、a 是模型消息，默认串成一条主链；从任意节点可以 fork 出新分支，比如图里 u2 之后长出 u2′、a2′，于是你可以回到任意节点重走而不污染原对话。因为存储是只追加的 JSONL，每条消息追加写一行，崩溃或断电最多丢最后一行；配套有 /tree 查看树、/fork /clone /branch 做分支、/export 导出 HTML、/share 发布 gist。这种模型让长任务的探索、回溯和恢复都非常便宜。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这一页讲会话记忆，是 L3 coding-agent 的能力。左边 JSONL 一行一条消息改成消息卡片流：黄色 m1 是用户消息帮我重构排序函数，蓝色 m2 是模型回复好先读文件，绿色 m3 是工具结果 read 返回内容，蓝色 m4 是模型回复重构完成跑测试；每张卡片标注 id 和 parentId，下方有图例区分用户模型工具。中间会话树可视化：根 m1 往下 m2 模型 m3 工具 m4 是分叉点，从 m4 分叉出 m5 路线A 和 m6 路线B，原路线不丢可切回。右边记忆做的三件事：落盘持久化每条消息追加写不覆盖关掉重开接着聊；分叉回溯用 tree 看树 fork 分叉 switch 切分支走错了从任意节点重来；超长压缩上下文快满时自动把旧对话总结成摘要代替原始消息。底部说明分层关系：L3 负责存和压，L2 负责每轮把历史从 JSONL 读出来拼进 messages。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这是扩展体系的总览页，先给地图。Pi 把扩展收敛成六种原语。前三种主要是写给模型看的 Markdown：AGENTS.md 和 SYSTEM.md 是项目指令和系统提示，启动加载、始终在上下文；Prompt 模板是 prompts 目录下的斜杠命令，手动 /name 展开、可以带参数；Skills 是遵循 Agent Skills 标准的能力包，启动只载入索引，任务匹配时模型才按需读全文、跑脚本。第四种 Custom Tools 是 TypeScript，给模型一个它原本没有的新动作，模型在对话中主动调用。第五种 Extensions/Hooks 也是 TypeScript，但根本不同：它订阅二十多个生命周期事件，在幕后拦截、改写、注入，模型完全无感。第六种 Themes 只改外观。卡片上的角标给了两个维度：蓝色是模型可见、紫色是幕后模型无感，绿色是零代码 Markdown、琥珀色是 TypeScript。底部是两个必须记住的根本区分：第一，对模型是否可见——指令、模板、Skills、工具是让模型知道怎么做、能做新事，而 Extension 是改变 agent 如何行事；第二，要不要写代码——前三类写 Markdown 即用，工具和 Extension 才需要 TypeScript。最后紫色条说明 Pi Package 是分发载体，能把任意机制打包经 npm 或 git 一键安装。下一页用决策树讲清楚到底该选哪一种。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直接回答用户最关心的问题：什么时候该用哪种扩展。从最上面一个根问题开始——这个扩展需要模型感知、需要模型主动使用吗？如果答案是否，也就是你想在模型看不见的地方改变运行行为，走左支幕后区，再问一个问题：只是改外观吗？是，就用 Themes；否，就用 Extensions/Hooks，它能做权限门、路径保护、上下文裁剪和 RAG 长期记忆、自定义压缩、接 MCP、做子 agent、自定义状态栏等等。如果答案是是，也就是你要给模型新能力或新知识，走右支模型可见区，从上往下依次问四个问题：第一，要让模型执行一个它原本不会的确定性动作、去调内部系统或 API 吗？是就写 Custom Tool；第二，内容是不是成体系、为了省上下文需要按需加载？是就做成 Skill；第三，是不是一段想手动一键触发、还能带参数的常用提示？是就用 Prompt 模板；如果都不是，你只是想让项目规则、编码约定、背景始终生效、无需触发，那写进 AGENTS.md 或 SYSTEM.md。最底部紫色条是横切的分发问题：无论选了哪种，想打包给团队复用或公开发布，就用 Pi Package 走 npm 或 git。记住一个总原则：让模型知道怎么做、能做新事，用模型可见的四类；改变 agent 如何行事而模型无感，用 Extension。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这一页讲静态上下文怎么变成模型每轮看到的话。顶部数据流横条四步：你的文件（AGENTS.md、SYSTEM.md、prompts、skills）→ L3 启动发现扫描目录加载内容装配进 session → L2 每轮拼装把系统提示加静态规则加历史加当前输入合成 messages → 模型看到完整 messages 知道规矩和上下文。下方四种零代码写法卡片，差别在何时进入上下文：AGENTS.md 项目指令启动自动加载每轮都在；SYSTEM.md 系统人设启动自动加载每轮都在；Prompts 模板手动斜杠命令才注入一次性；Skill 渐进披露启动只载入索引用到才读全文。底部说明分层关系：谁加载是 L3 启动时扫描并装配，谁拼装是 L2 每轮把静态上下文加历史加当前输入拼成 messages，四种写法的差别只是何时进上下文。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 Pi 扩展体系里最精巧的机制：Skill 的渐进披露。Skill 遵循通用的 Agent Skills 标准，所以和 Claude、Codex 的 skills 同构，能直接复用那些目录。左边是一个 Skill 的目录结构：一个文件夹，核心是 SKILL.md，它有一段 frontmatter，其中 name 必填且只能用小写字母数字和连字符，description 必填而且最关键——它决定这个 Skill 什么时候会被加载；还可以声明 license、compatibility、allowed-tools 限制可用工具、以及 disable-model-invocation 禁止模型自动调用。旁边是 scripts 脚本目录、references 参考文档、assets 资源。右边是渐进披露的三步：第一步启动时 Pi 只扫描每个 Skill 的 name 和 description，不读正文；第二步把这份很轻的索引以 XML 形式注入 system prompt，于是模型始终知道自己有哪些能力、各自干什么，却看不到内容；第三步当任务真正命中某个 Skill，模型才用 read、bash 按需去读 SKILL.md 全文、翻 references、运行 scripts。这样正文不常驻上下文、不撑爆 prompt cache，能力可以无限多而常驻成本几乎为零。触发方式有两种：手动 /skill:name，或模型根据 description 自动调用。底部说明发现位置和选型：成体系、步骤多、不常用、还带脚本的流程，比如发布、数据迁移、脚手架，做成 Skill 按需加载；而每次都要遵守的简短约定，放 AGENTS.md 常驻即可。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 Extension，也就是 Hooks，是六种扩展机制里最容易和 Tool 混淆的一个，所以专门讲清楚。左上第一张卡点明本质：Extension 是模型无感的幕后层，它订阅生命周期事件、拦截和改写运行行为，模型根本不知道它存在；而 Tool 是模型可见、由模型在对话中主动调用的新动作。左下第二张卡讲 registerCommand，它注册的是斜杠命令和快捷键，由人触发、直接执行，不需要交给模型，所以它不是 LLM 工具，不要和 Custom Tool 搞混。左下第三张卡列了扩展能访问的能力面：tools、commands、快捷插件、事件总线、完整 TUI，以及 ctx.ui、ctx.custom、ctx.compact、ctx.getContextUsage 这些上下文对象。右边 2 乘 3 的网格是六个典型场景，每个都标了挂在哪个钩子上：权限闸门挂 tool_call 可以 block，路径保护挂 tool_call 可以改参数，上下文裁剪和 RAG 挂 context 钩子，自定义压缩挂 session_before_compact，MCP 和子 agent 通过事件加工具桥接，状态栏和 TUI 自定义用 ctx.ui 和 ctx.custom。底部一句话给区分口诀：要模型知道或做到，用 Tool 或 Prompt；要在模型不知情下改 agent 行为，用 Extension。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 Custom Tool 和 Pi Package。左上是一个工具的五个要素，拆成独立卡片：name 是模型调用名，label 是 UI 给人看的展示名，description 告诉模型什么时候用，parameters 用 TypeBox 描述 schema 并由 AJV 校验入参，execute 是真正的执行函数还可以 onUpdate 推流式进度。左下是一次执行两路结果的流程图：模型调用 execute 后分流，绿色 content 路回灌模型，精炼面向模型进消息历史驱动下一轮；蓝色 details 路给 UI 和日志，详尽面向人不占上下文。右上是 Pi Package 打包流程：写扩展文件、打包成一个包、npm 或 git 一键安装，安装后触发资源发现六类扩展自动归位注册。六个 chip 分色：绿色三组是零代码 Markdown 模型可见，琥珀色两组是 TypeScript 代码后台运行，灰色一组是 Theme 配置。底部点明 Tool 的定位：模型在对话中自主调用它是动作不是幕后钩子，团队复用就打成 Package。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这一页是 pi-coding-agent 这一层的树状融汇，用三列把这一层的所有功能模块和它们之间的关系讲清楚。根节点是 pi-coding-agent 运行时，向下分三个主枝。左列 A 是内置运行时，也就是自带的底子：内置工具集 read/edit/bash/grep 模型直接调用，JSONL 持久化把每条消息落盘形成会话树可以 tree 和 fork，上下文压缩在超限时自动 compact 保留关键信息，还有四种运行形态 TUI、Print JSON、RPC 和 SDK。中列 B 是启动装配流程，按顺序三步走：第一步 resources_discover 扫描目录发现所有资源，第二步装载静态上下文把 AGENTS.md 和 SYSTEM.md 常驻注入 systemPrompt，第三步装配 initialState 把 model、tools、thinkingLevel 和 prompt 组装好，然后进入 Agent Loop。右列 C 是扩展体系，按类型分两组：绿色组是零代码 Markdown 类，包括常驻注入定义项目规则的 AGENTS/SYSTEM、/name 手动触发的 Prompt 模板、渐进披露按需展开的 Skill；琥珀色组是 TypeScript 代码类，包括模型可见的 Custom Tool 和幕后拦截 20 多个事件的 Extension。所有扩展最终由 Pi Package 打包通过 npm 或 git 一键安装。底部总结：A 是底子，B 是装配流程，C 是挂载点，先装配好再挂扩展然后进入 Loop。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这一页用一个真实任务把三层串起来，任务是在终端里让 Pi 给 utils.ts 的排序函数补单元测试并运行。最上面紫色 L3 层：第一步，pi-tui 收到输入，追加写进 JSONL，资源发现找到匹配的 skill 和 AGENTS.md 指令、准备好工具集；任务跑完后的第六步，TUI 差分渲染流式回复和工具输出、把会话落盘，你还可以 tree、fork 回溯。中间蓝色 L2 层是核心：第二步进入 turn 循环，组装系统提示、消息和工具描述；第三步模型决定调用 read、edit、bash，core 用 AJV 校验参数后执行，注意工具本身是 L3 提供的、core 只负责机制；第四步把工具结果的 content 回灌、再调模型，读文件、改测试、跑测试要往返好几轮，直到 turn_end。最下面绿色 L1 层第五步，每次调模型都由 streamText 发往具体供应商，逐块返回 text-delta、tool-call 和 usage，上面两层完全不感知背后是 Anthropic、OpenAI 还是本地 Ollama。中间的双向箭头表示请求向下、流式返回向上。底部是层间契约：L3 负责装配、工具、持久化和界面，L2 负责循环、校验和事件，L1 只管模型流，依赖严格自上而下单向，所以每一层都能被独立替换或单独复用。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这一页是整个扩展体系的一页速查，建议带着观众横着读、再竖着读。横着看每种机制有六个维度：形态、模型可见性、触发方式、要不要写代码、典型场景、分发。竖着对比六种：AGENTS 和 SYSTEM 是 Markdown，模型可见且常驻，启动自动加载，不写代码，用来放始终生效的项目约定和系统人设；Prompt 模板也是 Markdown、模型可见，但它是手动斜杠命令、一次性注入，用来复用一段能传参的提示或流程；Skill 是 Markdown 加脚本，模型可见但按需加载，靠自动匹配或手动触发，主体不写代码，适合发布、数据迁移、脚手架这类成体系操作手册；Custom Tool 是 TypeScript，模型可见且由模型主动调用，要写代码，用来给模型一个调 API、操作内部系统的新动作；Extension 和 Hook 是 TypeScript，但模型不可见、在幕后由生命周期事件触发，用来做权限门、RAG、自定义压缩、MCP、子 agent、状态栏；Theme 只改外观。颜色上蓝色表示模型可见、紫色表示幕后无感、绿色表示不写代码、琥珀色表示要写 TypeScript。所有机制最后都能打成 Pi Package 分发。底部口诀就是选型主线：要模型知道或做到，用可见的四类，按常驻、手动、按需、动作再细分；要在模型不知情下改变运行行为，用 Extension；改外观用 Theme；要复用发布就打包。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最后用四张卡回顾全篇。第一，极简内核：Pi 的系统提示只有约 1k token，它给你的是原语而不是大而全的功能，刻意不内建 MCP、子 agent、权限弹窗，而且你可以原地改写它自身再 /reload。第二，三层单向依赖：pi-ai 负责统一多家模型的流式调用，pi-agent-core 负责 agent loop、工具执行和事件，pi-coding-agent 在其上提供完整运行时、会话和扩展系统，依赖方向单一、每层都能独立替换。第三，核心 loop 和事件：turn 循环里模型决策、调工具、结果回灌再转一轮，外部分为 agent、turn、message、tool_execution 四级事件，每个关键节点都能被钩子拦截，这是整个系统可扩展的根基。第四，六种扩展机制和两个根本区分：模型可见的有 AGENTS、Prompt、Skill、Tool，幕后改行为的是 Extension，改外观的是 Theme；再按零代码 Markdown 还是 TypeScript 区分，最后都能打成 Pi Package 分发。中间是 Pi 的两句口号：Primitives, not features，以及 Change the harness, not your workflow——世上有很多 agent harness，但这一个是你的。底部是资源：文档在 pi.dev，安装用 npm 全局安装 @mariozechner/pi-coding-agent，项目由 Mario Zechner 开源、MIT 协议、TypeScript 编写。谢谢大家。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9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0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subtitle style</a:t>
            </a:r>
            <a:endParaRPr lang="en-US" sz="3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7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7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7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7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7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7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9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80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0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8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8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8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85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86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87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88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89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0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9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9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9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9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9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AutoShape 8"/>
          <p:cNvSpPr/>
          <p:nvPr>
            <p:ph type="body" sz="quarter" idx="9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AutoShape 9"/>
          <p:cNvSpPr/>
          <p:nvPr>
            <p:ph type="body" sz="quarter" idx="9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8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9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0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10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0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0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5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06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07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10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0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1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1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pic" sz="quarter" idx="11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113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11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1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11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18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1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12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2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22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23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1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6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AutoShape 2"/>
          <p:cNvSpPr/>
          <p:nvPr>
            <p:ph type="body" sz="quarter" idx="65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6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6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22.sv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26.svg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0" Type="http://schemas.openxmlformats.org/officeDocument/2006/relationships/notesSlide" Target="../notesSlides/notesSlide8.xml"/><Relationship Id="rId2" Type="http://schemas.openxmlformats.org/officeDocument/2006/relationships/image" Target="../media/image28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44.svg"/><Relationship Id="rId17" Type="http://schemas.openxmlformats.org/officeDocument/2006/relationships/image" Target="../media/image43.png"/><Relationship Id="rId16" Type="http://schemas.openxmlformats.org/officeDocument/2006/relationships/image" Target="../media/image42.svg"/><Relationship Id="rId15" Type="http://schemas.openxmlformats.org/officeDocument/2006/relationships/image" Target="../media/image41.png"/><Relationship Id="rId14" Type="http://schemas.openxmlformats.org/officeDocument/2006/relationships/image" Target="../media/image40.svg"/><Relationship Id="rId13" Type="http://schemas.openxmlformats.org/officeDocument/2006/relationships/image" Target="../media/image39.png"/><Relationship Id="rId12" Type="http://schemas.openxmlformats.org/officeDocument/2006/relationships/image" Target="../media/image38.svg"/><Relationship Id="rId11" Type="http://schemas.openxmlformats.org/officeDocument/2006/relationships/image" Target="../media/image37.png"/><Relationship Id="rId10" Type="http://schemas.openxmlformats.org/officeDocument/2006/relationships/image" Target="../media/image36.svg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2.svg"/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svg"/><Relationship Id="rId7" Type="http://schemas.openxmlformats.org/officeDocument/2006/relationships/image" Target="../media/image59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2" Type="http://schemas.openxmlformats.org/officeDocument/2006/relationships/notesSlide" Target="../notesSlides/notesSlide17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72.svg"/><Relationship Id="rId2" Type="http://schemas.openxmlformats.org/officeDocument/2006/relationships/image" Target="../media/image54.svg"/><Relationship Id="rId19" Type="http://schemas.openxmlformats.org/officeDocument/2006/relationships/image" Target="../media/image71.png"/><Relationship Id="rId18" Type="http://schemas.openxmlformats.org/officeDocument/2006/relationships/image" Target="../media/image70.svg"/><Relationship Id="rId17" Type="http://schemas.openxmlformats.org/officeDocument/2006/relationships/image" Target="../media/image69.png"/><Relationship Id="rId16" Type="http://schemas.openxmlformats.org/officeDocument/2006/relationships/image" Target="../media/image68.svg"/><Relationship Id="rId15" Type="http://schemas.openxmlformats.org/officeDocument/2006/relationships/image" Target="../media/image67.png"/><Relationship Id="rId14" Type="http://schemas.openxmlformats.org/officeDocument/2006/relationships/image" Target="../media/image66.svg"/><Relationship Id="rId13" Type="http://schemas.openxmlformats.org/officeDocument/2006/relationships/image" Target="../media/image65.png"/><Relationship Id="rId12" Type="http://schemas.openxmlformats.org/officeDocument/2006/relationships/image" Target="../media/image64.svg"/><Relationship Id="rId11" Type="http://schemas.openxmlformats.org/officeDocument/2006/relationships/image" Target="../media/image63.png"/><Relationship Id="rId10" Type="http://schemas.openxmlformats.org/officeDocument/2006/relationships/image" Target="../media/image62.svg"/><Relationship Id="rId1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58.svg"/><Relationship Id="rId3" Type="http://schemas.openxmlformats.org/officeDocument/2006/relationships/image" Target="../media/image57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56.svg"/><Relationship Id="rId7" Type="http://schemas.openxmlformats.org/officeDocument/2006/relationships/image" Target="../media/image55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62.svg"/><Relationship Id="rId14" Type="http://schemas.openxmlformats.org/officeDocument/2006/relationships/notesSlide" Target="../notesSlides/notesSlide2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84.svg"/><Relationship Id="rId11" Type="http://schemas.openxmlformats.org/officeDocument/2006/relationships/image" Target="../media/image83.png"/><Relationship Id="rId10" Type="http://schemas.openxmlformats.org/officeDocument/2006/relationships/image" Target="../media/image82.svg"/><Relationship Id="rId1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image" Target="../media/image90.svg"/><Relationship Id="rId7" Type="http://schemas.openxmlformats.org/officeDocument/2006/relationships/image" Target="../media/image89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" Type="http://schemas.openxmlformats.org/officeDocument/2006/relationships/image" Target="../media/image86.svg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94.svg"/><Relationship Id="rId11" Type="http://schemas.openxmlformats.org/officeDocument/2006/relationships/image" Target="../media/image93.png"/><Relationship Id="rId10" Type="http://schemas.openxmlformats.org/officeDocument/2006/relationships/image" Target="../media/image92.svg"/><Relationship Id="rId1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96.svg"/><Relationship Id="rId1" Type="http://schemas.openxmlformats.org/officeDocument/2006/relationships/image" Target="../media/image9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image" Target="../media/image80.svg"/><Relationship Id="rId7" Type="http://schemas.openxmlformats.org/officeDocument/2006/relationships/image" Target="../media/image79.png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00.svg"/><Relationship Id="rId3" Type="http://schemas.openxmlformats.org/officeDocument/2006/relationships/image" Target="../media/image99.png"/><Relationship Id="rId2" Type="http://schemas.openxmlformats.org/officeDocument/2006/relationships/image" Target="../media/image98.svg"/><Relationship Id="rId16" Type="http://schemas.openxmlformats.org/officeDocument/2006/relationships/notesSlide" Target="../notesSlides/notesSlide29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72.svg"/><Relationship Id="rId13" Type="http://schemas.openxmlformats.org/officeDocument/2006/relationships/image" Target="../media/image71.png"/><Relationship Id="rId12" Type="http://schemas.openxmlformats.org/officeDocument/2006/relationships/image" Target="../media/image66.svg"/><Relationship Id="rId11" Type="http://schemas.openxmlformats.org/officeDocument/2006/relationships/image" Target="../media/image65.png"/><Relationship Id="rId10" Type="http://schemas.openxmlformats.org/officeDocument/2006/relationships/image" Target="../media/image104.svg"/><Relationship Id="rId1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60000">
              <a:srgbClr val="1E293B">
                <a:alpha val="100000"/>
              </a:srgbClr>
            </a:gs>
            <a:gs pos="100000">
              <a:srgbClr val="0F17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63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84200"/>
            <a:ext cx="2413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Agent · 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889000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Agent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336800"/>
            <a:ext cx="990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一个极简、透明、可完全拥有的 Agent Harness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3581400"/>
            <a:ext cx="914400" cy="91440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 cap="flat" cmpd="sng">
            <a:solidFill>
              <a:srgbClr val="22D3EE">
                <a:alpha val="80000"/>
              </a:srgbClr>
            </a:solidFill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937000" y="3581400"/>
            <a:ext cx="914400" cy="9144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 cap="flat" cmpd="sng">
            <a:solidFill>
              <a:srgbClr val="60A5FA">
                <a:alpha val="85000"/>
              </a:srgbClr>
            </a:solidFill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模型推理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3581400"/>
            <a:ext cx="914400" cy="9144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 cap="flat" cmpd="sng">
            <a:solidFill>
              <a:srgbClr val="F59E0B">
                <a:alpha val="85000"/>
              </a:srgbClr>
            </a:solidFill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工具调用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017000" y="3581400"/>
            <a:ext cx="914400" cy="9144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 cap="flat" cmpd="sng">
            <a:solidFill>
              <a:srgbClr val="10B981">
                <a:alpha val="85000"/>
              </a:srgbClr>
            </a:solidFill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结果回</a:t>
            </a:r>
            <a:r>
              <a:rPr lang="zh-CN" altLang="en-US" sz="10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</a:t>
            </a:r>
            <a:endParaRPr lang="zh-CN" altLang="en-US" sz="105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28177">
            <a:off x="2336826" y="4032250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2" name="Connector 12"/>
          <p:cNvCxnSpPr/>
          <p:nvPr/>
        </p:nvCxnSpPr>
        <p:spPr>
          <a:xfrm rot="-28177">
            <a:off x="4876826" y="4032250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3" name="Connector 13"/>
          <p:cNvCxnSpPr/>
          <p:nvPr/>
        </p:nvCxnSpPr>
        <p:spPr>
          <a:xfrm rot="-28177">
            <a:off x="7416826" y="4032250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4" name="Connector 14"/>
          <p:cNvCxnSpPr/>
          <p:nvPr/>
        </p:nvCxnSpPr>
        <p:spPr>
          <a:xfrm rot="5314074">
            <a:off x="9220200" y="47435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15" name="Connector 15"/>
          <p:cNvCxnSpPr/>
          <p:nvPr/>
        </p:nvCxnSpPr>
        <p:spPr>
          <a:xfrm rot="10794270">
            <a:off x="1854195" y="49974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16" name="Connector 16"/>
          <p:cNvCxnSpPr/>
          <p:nvPr/>
        </p:nvCxnSpPr>
        <p:spPr>
          <a:xfrm rot="-5485925">
            <a:off x="1600200" y="4743371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4445000" y="4775200"/>
            <a:ext cx="3302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有工具结果，就回到输入再转一轮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6642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65200" y="5664200"/>
            <a:ext cx="10261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pi.dev　·　MIT 开源　　·　15+ 模型供应商　·　四种运行形态：</a:t>
            </a:r>
            <a:r>
              <a:rPr lang="en-US" sz="1150" b="0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Interactive / Print-JSON / RPC / SDK</a:t>
            </a:r>
            <a:endParaRPr lang="en-US" sz="1150" b="0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认识 Pi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968500" y="279400"/>
            <a:ext cx="787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是什么 · 一个属于你的 Agent 外壳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636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965200"/>
            <a:ext cx="10414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是一个极简、透明、可完全自定义的编码agent harness，也是一套可分层复用的 TypeScript Agent 构建工具包：让大模型通过「工具调用循环」读、改、运行代码。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803400"/>
            <a:ext cx="5080000" cy="4419600"/>
          </a:xfrm>
          <a:prstGeom prst="roundRect">
            <a:avLst>
              <a:gd name="adj" fmla="val 287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1803400"/>
            <a:ext cx="50800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9000" y="2006600"/>
            <a:ext cx="4572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POSITIONING · 一句话定位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2672715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智能体外壳有很多，但这一个完全属于你——让 Pi 适配你的工作流，而不是反过来。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549">
            <a:off x="965209" y="34480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3835400"/>
            <a:ext cx="228600" cy="228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19200" y="3810000"/>
            <a:ext cx="4318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 harness：驱动工具调用循环的外壳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200" y="4064000"/>
            <a:ext cx="4318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无状态的大模型本身只会单轮回复；harness 负责循环、工具、上下文与安全，把模型变成能干活的 Agent。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4572000"/>
            <a:ext cx="228600" cy="228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219200" y="4546600"/>
            <a:ext cx="4318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既是成品，也是分层工具包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19200" y="4800600"/>
            <a:ext cx="4318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开箱即用的终端编码助手；pi-ai / pi-agent-core / pi-coding-agent / pi-tui 四层可按需取用、嵌入自有应用。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308600"/>
            <a:ext cx="228600" cy="228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219200" y="5283200"/>
            <a:ext cx="4318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极简内核，能力靠扩展生长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219200" y="5537200"/>
            <a:ext cx="4318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不预设子 Agent、计划模式、权限弹窗；这些「功能」都以原语交给你按需构建，甚至让 Pi 改写自己。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969000" y="1803400"/>
            <a:ext cx="269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200" y="1981200"/>
            <a:ext cx="279400" cy="279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553200" y="1968500"/>
            <a:ext cx="18542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MIT · 开源 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172200" y="2336800"/>
            <a:ext cx="23114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代码可读、可 fork，npm 安装，不锁定厂商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64600" y="1803400"/>
            <a:ext cx="269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67800" y="1981200"/>
            <a:ext cx="279400" cy="279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448800" y="1968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15+ 供应商 · 数百模型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067800" y="2336800"/>
            <a:ext cx="23114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 / OpenAI / Google / Ollama，会话中可切换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969000" y="2933700"/>
            <a:ext cx="269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72200" y="3111500"/>
            <a:ext cx="279400" cy="279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553200" y="30988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个默认工具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172200" y="3467100"/>
            <a:ext cx="23114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read / bash / edit / write，另有 grep / find / ls 可选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864600" y="2933700"/>
            <a:ext cx="269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67800" y="3111500"/>
            <a:ext cx="279400" cy="2794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9448800" y="30988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极简系统提示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067800" y="3467100"/>
            <a:ext cx="23114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 1k token 起步，把上下文工程交还给你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5969000" y="4064000"/>
            <a:ext cx="269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72200" y="4241800"/>
            <a:ext cx="279400" cy="2794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6553200" y="42291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树状会话 · 可分支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172200" y="4597400"/>
            <a:ext cx="23114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JSONL 树存储，/tree /fork /clone 回到任意节点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864600" y="4064000"/>
            <a:ext cx="269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067800" y="4241800"/>
            <a:ext cx="279400" cy="279400"/>
          </a:xfrm>
          <a:prstGeom prst="rect">
            <a:avLst/>
          </a:prstGeom>
        </p:spPr>
      </p:pic>
      <p:sp>
        <p:nvSpPr>
          <p:cNvPr id="46" name="AutoShape 46"/>
          <p:cNvSpPr/>
          <p:nvPr/>
        </p:nvSpPr>
        <p:spPr>
          <a:xfrm>
            <a:off x="9448800" y="42291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四种使用形态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067800" y="4597400"/>
            <a:ext cx="23114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Interactive / Print · JSON / RPC / SDK 嵌入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5969000" y="5194300"/>
            <a:ext cx="269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2200" y="5372100"/>
            <a:ext cx="279400" cy="279400"/>
          </a:xfrm>
          <a:prstGeom prst="rect">
            <a:avLst/>
          </a:prstGeom>
        </p:spPr>
      </p:pic>
      <p:sp>
        <p:nvSpPr>
          <p:cNvPr id="50" name="AutoShape 50"/>
          <p:cNvSpPr/>
          <p:nvPr/>
        </p:nvSpPr>
        <p:spPr>
          <a:xfrm>
            <a:off x="6553200" y="53594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20+ 生命周期钩子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6172200" y="5727700"/>
            <a:ext cx="23114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扩展可拦截、改写、注入，贯穿整个 Agent Loop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8864600" y="5194300"/>
            <a:ext cx="269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067800" y="5372100"/>
            <a:ext cx="279400" cy="279400"/>
          </a:xfrm>
          <a:prstGeom prst="rect">
            <a:avLst/>
          </a:prstGeom>
        </p:spPr>
      </p:pic>
      <p:sp>
        <p:nvSpPr>
          <p:cNvPr id="54" name="AutoShape 54"/>
          <p:cNvSpPr/>
          <p:nvPr/>
        </p:nvSpPr>
        <p:spPr>
          <a:xfrm>
            <a:off x="9448800" y="53594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可自我改写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9067800" y="5727700"/>
            <a:ext cx="23114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 Pi 现场扩展自身，/reload 后继续工作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认识 Pi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968500" y="279400"/>
            <a:ext cx="8128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设计哲学 · 给原语，而不是成品功能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63600"/>
            <a:ext cx="10922000" cy="711200"/>
          </a:xfrm>
          <a:prstGeom prst="roundRect">
            <a:avLst>
              <a:gd name="adj" fmla="val 17857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965200"/>
            <a:ext cx="1041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保持极小内核，把其他 Agent 内置的功能做成可组合的原语：需要什么，就让 Pi 当场构建，或安装社区 Pi Package——内核不替你决定工作流。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752600"/>
            <a:ext cx="5334000" cy="3860800"/>
          </a:xfrm>
          <a:prstGeom prst="roundRect">
            <a:avLst>
              <a:gd name="adj" fmla="val 3289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1752600"/>
            <a:ext cx="53340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9000" y="1930400"/>
            <a:ext cx="482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刻意不做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209800"/>
            <a:ext cx="4826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缺失的不是能力，而是可由你补上的扩展点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489200"/>
            <a:ext cx="5080000" cy="482600"/>
          </a:xfrm>
          <a:prstGeom prst="roundRect">
            <a:avLst>
              <a:gd name="adj" fmla="val 21052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628900"/>
            <a:ext cx="203200" cy="203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19200" y="2489200"/>
            <a:ext cx="12192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协议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514600" y="2489200"/>
            <a:ext cx="32004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05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用带 README 的 CLI 技能，或装 MCP 扩展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022600"/>
            <a:ext cx="5080000" cy="482600"/>
          </a:xfrm>
          <a:prstGeom prst="roundRect">
            <a:avLst>
              <a:gd name="adj" fmla="val 21052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162300"/>
            <a:ext cx="203200" cy="203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219200" y="3022600"/>
            <a:ext cx="12192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 Agent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514600" y="3022600"/>
            <a:ext cx="32004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05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tmux 派生 Pi 进程，或用扩展 / 包自建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556000"/>
            <a:ext cx="5080000" cy="482600"/>
          </a:xfrm>
          <a:prstGeom prst="roundRect">
            <a:avLst>
              <a:gd name="adj" fmla="val 21052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695700"/>
            <a:ext cx="203200" cy="203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19200" y="3556000"/>
            <a:ext cx="12192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权限弹窗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514600" y="3556000"/>
            <a:ext cx="32004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05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在容器里运行，或用扩展做内联确认流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089400"/>
            <a:ext cx="5080000" cy="482600"/>
          </a:xfrm>
          <a:prstGeom prst="roundRect">
            <a:avLst>
              <a:gd name="adj" fmla="val 21052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4229100"/>
            <a:ext cx="203200" cy="203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219200" y="4089400"/>
            <a:ext cx="12192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计划模式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514600" y="4089400"/>
            <a:ext cx="32004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05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把计划写入文件，或用扩展实现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622800"/>
            <a:ext cx="5080000" cy="482600"/>
          </a:xfrm>
          <a:prstGeom prst="roundRect">
            <a:avLst>
              <a:gd name="adj" fmla="val 21052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4762500"/>
            <a:ext cx="203200" cy="203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219200" y="4622800"/>
            <a:ext cx="12192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 TODO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2514600" y="4622800"/>
            <a:ext cx="32004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05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维护一个 TODO.md，或用扩展管理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156200"/>
            <a:ext cx="5080000" cy="482600"/>
          </a:xfrm>
          <a:prstGeom prst="roundRect">
            <a:avLst>
              <a:gd name="adj" fmla="val 21052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5295900"/>
            <a:ext cx="203200" cy="203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219200" y="5156200"/>
            <a:ext cx="12192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后台 Bash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2514600" y="5156200"/>
            <a:ext cx="32004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05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tmux，完全可观测、可直接交互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223000" y="1752600"/>
            <a:ext cx="2565400" cy="1549400"/>
          </a:xfrm>
          <a:prstGeom prst="roundRect">
            <a:avLst>
              <a:gd name="adj" fmla="val 819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6200" y="19558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6426200" y="23368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Interactive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426200" y="2616200"/>
            <a:ext cx="2159000" cy="177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　完整 TUI 体验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426200" y="2819400"/>
            <a:ext cx="2184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对话、斜杠命令、流式渲染、/tree 分支、/model 换模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991600" y="1752600"/>
            <a:ext cx="2565400" cy="1549400"/>
          </a:xfrm>
          <a:prstGeom prst="roundRect">
            <a:avLst>
              <a:gd name="adj" fmla="val 819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4800" y="1955800"/>
            <a:ext cx="304800" cy="3048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9194800" y="23368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Print / JSON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194800" y="2616200"/>
            <a:ext cx="2159000" cy="177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-p "..."　脚本化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194800" y="2819400"/>
            <a:ext cx="2184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一次性问答接入脚本；--mode json 输出结构化事件流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223000" y="3454400"/>
            <a:ext cx="2565400" cy="1549400"/>
          </a:xfrm>
          <a:prstGeom prst="roundRect">
            <a:avLst>
              <a:gd name="adj" fmla="val 819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7" name="Picture 4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6200" y="3657600"/>
            <a:ext cx="304800" cy="304800"/>
          </a:xfrm>
          <a:prstGeom prst="rect">
            <a:avLst/>
          </a:prstGeom>
        </p:spPr>
      </p:pic>
      <p:sp>
        <p:nvSpPr>
          <p:cNvPr id="48" name="AutoShape 48"/>
          <p:cNvSpPr/>
          <p:nvPr/>
        </p:nvSpPr>
        <p:spPr>
          <a:xfrm>
            <a:off x="6426200" y="40386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RPC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426200" y="4318000"/>
            <a:ext cx="2159000" cy="177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stdin / stdout 上的 JSON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6426200" y="4521200"/>
            <a:ext cx="2184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语言无关的进程协议，供非 Node 系统集成驱动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991600" y="3454400"/>
            <a:ext cx="2565400" cy="1549400"/>
          </a:xfrm>
          <a:prstGeom prst="roundRect">
            <a:avLst>
              <a:gd name="adj" fmla="val 819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94800" y="3657600"/>
            <a:ext cx="304800" cy="304800"/>
          </a:xfrm>
          <a:prstGeom prst="rect">
            <a:avLst/>
          </a:prstGeom>
        </p:spPr>
      </p:pic>
      <p:sp>
        <p:nvSpPr>
          <p:cNvPr id="53" name="AutoShape 53"/>
          <p:cNvSpPr/>
          <p:nvPr/>
        </p:nvSpPr>
        <p:spPr>
          <a:xfrm>
            <a:off x="9194800" y="40386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SDK 嵌入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9194800" y="4318000"/>
            <a:ext cx="2159000" cy="177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createAgentSession()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9194800" y="4521200"/>
            <a:ext cx="2184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进程内 steer / abort / subscribe 全控制，OpenClaw 实践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6223000" y="5181600"/>
            <a:ext cx="533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同一份极小内核，从交互式终端到进程内嵌入，按需取用。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635000" y="5816600"/>
            <a:ext cx="10922000" cy="533400"/>
          </a:xfrm>
          <a:prstGeom prst="roundRect">
            <a:avLst>
              <a:gd name="adj" fmla="val 23809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3600" y="5930900"/>
            <a:ext cx="279400" cy="279400"/>
          </a:xfrm>
          <a:prstGeom prst="rect">
            <a:avLst/>
          </a:prstGeom>
        </p:spPr>
      </p:pic>
      <p:sp>
        <p:nvSpPr>
          <p:cNvPr id="59" name="AutoShape 59"/>
          <p:cNvSpPr/>
          <p:nvPr/>
        </p:nvSpPr>
        <p:spPr>
          <a:xfrm>
            <a:off x="1270000" y="5816600"/>
            <a:ext cx="1016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需要命令、工具、工作流或界面调整时，让 Pi 当场为自己构建，/reload 后继续；也可 pi install 社区包。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认识 Pi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968500" y="279400"/>
            <a:ext cx="8128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同类 Agent Harness 对比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58800"/>
          </a:xfrm>
          <a:prstGeom prst="roundRect">
            <a:avLst>
              <a:gd name="adj" fmla="val 18181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对比五款编码 Agent，差异在架构设计、模型原生支持度与扩展路径。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35000" y="1524000"/>
          <a:ext cx="10922000" cy="393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1879600"/>
                <a:gridCol w="1879600"/>
                <a:gridCol w="1879600"/>
                <a:gridCol w="1879600"/>
                <a:gridCol w="18796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Claude 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Codex CLI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OpenCode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dsh (DeepSeek)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总体框架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三层分层架构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A7F3D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每层可独立安装使用</a:t>
                      </a:r>
                      <a:endParaRPr lang="en-US" sz="900" b="0" i="0" u="none" strike="noStrike">
                        <a:solidFill>
                          <a:srgbClr val="A7F3D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一体化应用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功能内聚，不可拆分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一体化应用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配置驱动，沙箱为核心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应用 + 插件层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桌面 / LSP / CLI 多端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一切即插件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Cordis 插件内核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模型支持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原生 15+ provider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A7F3D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统一抽象层，无需代理</a:t>
                      </a:r>
                      <a:endParaRPr lang="en-US" sz="900" b="0" i="0" u="none" strike="noStrike">
                        <a:solidFill>
                          <a:srgbClr val="A7F3D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原生 Claude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可经兼容 API / 代理接其他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原生 OpenAI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已支持自定义 provider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原生 75+ provider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BYOK，内置切换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多模型支持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DeepSeek 为主，可扩展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内核与工具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极简原语 · 4 默认工具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A7F3D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能力靠扩展注入</a:t>
                      </a:r>
                      <a:endParaRPr lang="en-US" sz="900" b="0" i="0" u="none" strike="noStrike">
                        <a:solidFill>
                          <a:srgbClr val="A7F3D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全内置 · 10+ 工具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开箱即用，Subagent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OS 沙箱 + 审批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安全策略驱动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多数功能内置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桌面 / LSP 深度集成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插件组成「身体」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 / 会话 / 权限均为插件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扩展机制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 机制 + Package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A7F3D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零代码到 TypeScript</a:t>
                      </a:r>
                      <a:endParaRPr lang="en-US" sz="900" b="0" i="0" u="none" strike="noStrike">
                        <a:solidFill>
                          <a:srgbClr val="A7F3D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插件 / Subagent / MCP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SDK 二次开发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MCP / 自定义 provider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工具协议扩展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插件 + MCP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社区生态活跃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Cordis 插件生态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插件市场 dsh.so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685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归属与透明度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MIT · ~1k token 提示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A7F3D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 fork 可自改写</a:t>
                      </a:r>
                      <a:endParaRPr lang="en-US" sz="900" b="0" i="0" u="none" strike="noStrike">
                        <a:solidFill>
                          <a:srgbClr val="A7F3D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专有 · 订阅 / API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系统提示不公开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Apache-2.0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系统提示不公开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MIT · 开源可查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提示词可见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开源 · 插件透明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94A3B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本地 Web UI</a:t>
                      </a:r>
                      <a:endParaRPr lang="en-US" sz="900" b="0" i="0" u="none" strike="noStrike">
                        <a:solidFill>
                          <a:srgbClr val="94A3B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635000" y="5664200"/>
            <a:ext cx="10922000" cy="508000"/>
          </a:xfrm>
          <a:prstGeom prst="roundRect">
            <a:avLst>
              <a:gd name="adj" fmla="val 20000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的差异化：</a:t>
            </a:r>
            <a:r>
              <a:rPr lang="en-US" sz="11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三层分层可独立使用，原生多 provider 无需代理，内核极简、扩展从零代码到 TypeScript 全覆盖。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968500" y="279400"/>
            <a:ext cx="8382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总体技术栈架构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787400"/>
            <a:ext cx="1397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运行入口 · 谁来调用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066800"/>
            <a:ext cx="254000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Interactive TUI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终端界面</a:t>
            </a:r>
            <a:endParaRPr lang="en-US" sz="8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29000" y="1066800"/>
            <a:ext cx="254000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Print / JSON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-p 脚本化</a:t>
            </a:r>
            <a:endParaRPr lang="en-US" sz="8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066800"/>
            <a:ext cx="254000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RPC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stdin/stdout JSON</a:t>
            </a:r>
            <a:endParaRPr lang="en-US" sz="8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017000" y="1066800"/>
            <a:ext cx="254000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SDK 嵌入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createAgentSession</a:t>
            </a:r>
            <a:endParaRPr lang="en-US" sz="8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209210">
            <a:off x="4584700" y="16575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12"/>
          <p:cNvSpPr/>
          <p:nvPr/>
        </p:nvSpPr>
        <p:spPr>
          <a:xfrm>
            <a:off x="635000" y="1778000"/>
            <a:ext cx="6858000" cy="711200"/>
          </a:xfrm>
          <a:prstGeom prst="roundRect">
            <a:avLst>
              <a:gd name="adj" fmla="val 14285"/>
            </a:avLst>
          </a:prstGeom>
          <a:solidFill>
            <a:srgbClr val="8B5CF6">
              <a:alpha val="20000"/>
            </a:srgbClr>
          </a:solidFill>
          <a:ln w="254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pi-coding-agent</a:t>
            </a: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L3 · 完整运行时　</a:t>
            </a:r>
            <a:r>
              <a:rPr lang="en-US" sz="1000" b="0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内置工具 · JSONL 持久化 · 压缩 · 技能 · 扩展装配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154862">
            <a:off x="3975100" y="25719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4165600" y="2501900"/>
            <a:ext cx="508000" cy="177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" y="2667000"/>
            <a:ext cx="6858000" cy="711200"/>
          </a:xfrm>
          <a:prstGeom prst="roundRect">
            <a:avLst>
              <a:gd name="adj" fmla="val 14285"/>
            </a:avLst>
          </a:prstGeom>
          <a:solidFill>
            <a:srgbClr val="3B82F6">
              <a:alpha val="25000"/>
            </a:srgbClr>
          </a:solidFill>
          <a:ln w="25400" cap="flat" cmpd="sng">
            <a:solidFill>
              <a:srgbClr val="60A5FA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</a:t>
            </a: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L2 · Agent Loop 引擎　</a:t>
            </a:r>
            <a:r>
              <a:rPr lang="en-US" sz="10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模型↔工具循环 · steer/followUp · 工具管线 · 事件流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154862">
            <a:off x="3975100" y="34609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4165600" y="3390900"/>
            <a:ext cx="508000" cy="177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" y="3556000"/>
            <a:ext cx="6858000" cy="711200"/>
          </a:xfrm>
          <a:prstGeom prst="roundRect">
            <a:avLst>
              <a:gd name="adj" fmla="val 14285"/>
            </a:avLst>
          </a:prstGeom>
          <a:solidFill>
            <a:srgbClr val="10B981">
              <a:alpha val="2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</a:t>
            </a: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L1 · 统一模型抽象　</a:t>
            </a:r>
            <a:r>
              <a:rPr lang="en-US" sz="1000" b="0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 Provider 流式调用 · 模型元数据 · 成本核算 · 思考级别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154862">
            <a:off x="3975100" y="43499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635000" y="4445000"/>
            <a:ext cx="6858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各模型供应商 SDK（OpenAI / Anthropic / Google / 本地模型 …）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747000" y="1778000"/>
            <a:ext cx="4318000" cy="3403600"/>
          </a:xfrm>
          <a:prstGeom prst="roundRect">
            <a:avLst>
              <a:gd name="adj" fmla="val 3731"/>
            </a:avLst>
          </a:prstGeom>
          <a:solidFill>
            <a:srgbClr val="FFFFFF">
              <a:alpha val="3000"/>
            </a:srgbClr>
          </a:solidFill>
          <a:ln w="25400" cap="flat" cmpd="sng">
            <a:solidFill>
              <a:srgbClr val="A78BFA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937500" y="1854200"/>
            <a:ext cx="2540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扩展能力 · 挂载在 L3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937500" y="2184400"/>
            <a:ext cx="3937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■ 零代码 · Markdown（模型可见，自动注入）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937500" y="2463800"/>
            <a:ext cx="3937000" cy="355600"/>
          </a:xfrm>
          <a:prstGeom prst="roundRect">
            <a:avLst>
              <a:gd name="adj" fmla="val 14285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 / SYSTEM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常驻注入 · 项目规则与人设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937500" y="2844800"/>
            <a:ext cx="3937000" cy="355600"/>
          </a:xfrm>
          <a:prstGeom prst="roundRect">
            <a:avLst>
              <a:gd name="adj" fmla="val 14285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 模板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/name 展开 · 可复用提示词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937500" y="3225800"/>
            <a:ext cx="3937000" cy="355600"/>
          </a:xfrm>
          <a:prstGeom prst="roundRect">
            <a:avLst>
              <a:gd name="adj" fmla="val 14285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渐进披露 · 按需加载能力包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937500" y="3683000"/>
            <a:ext cx="3937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■ TypeScript · 代码（模型无感，后台拦截）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937500" y="3962400"/>
            <a:ext cx="3937000" cy="355600"/>
          </a:xfrm>
          <a:prstGeom prst="roundRect">
            <a:avLst>
              <a:gd name="adj" fmla="val 14285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Custom Tool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注册新工具 · 两路返回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937500" y="4343400"/>
            <a:ext cx="3937000" cy="355600"/>
          </a:xfrm>
          <a:prstGeom prst="roundRect">
            <a:avLst>
              <a:gd name="adj" fmla="val 14285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Extension / Hook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生命周期事件 · 拦截注入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937500" y="4775200"/>
            <a:ext cx="3937000" cy="355600"/>
          </a:xfrm>
          <a:prstGeom prst="roundRect">
            <a:avLst>
              <a:gd name="adj" fmla="val 14285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Theme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配色字体 · 界面风格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937500" y="5207000"/>
            <a:ext cx="3937000" cy="304800"/>
          </a:xfrm>
          <a:prstGeom prst="roundRect">
            <a:avLst>
              <a:gd name="adj" fmla="val 16666"/>
            </a:avLst>
          </a:prstGeom>
          <a:solidFill>
            <a:srgbClr val="8B5C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Package　npm / git 一键打包分发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71744">
            <a:off x="7493159" y="21272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5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33" name="AutoShape 33"/>
          <p:cNvSpPr/>
          <p:nvPr/>
        </p:nvSpPr>
        <p:spPr>
          <a:xfrm>
            <a:off x="635000" y="5016500"/>
            <a:ext cx="6858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调用方向自上而下：运行入口 → L3 运行时 → L2 Loop 引擎 → L1 模型抽象 → 供应商 SDK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968500" y="279400"/>
            <a:ext cx="8128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三层总览 · 各司其职，单向依赖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84200"/>
          </a:xfrm>
          <a:prstGeom prst="roundRect">
            <a:avLst>
              <a:gd name="adj" fmla="val 21739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沿「模型 → 引擎 → 应用」纵向切分为三个可独立使用的包：上层依赖下层，下层不感知上层；每一层都能单独安装、嵌入你自己的系统。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574800"/>
            <a:ext cx="3467100" cy="4114800"/>
          </a:xfrm>
          <a:prstGeom prst="roundRect">
            <a:avLst>
              <a:gd name="adj" fmla="val 3663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1574800"/>
            <a:ext cx="34671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9000" y="1828800"/>
            <a:ext cx="558800" cy="558800"/>
          </a:xfrm>
          <a:prstGeom prst="roundRect">
            <a:avLst>
              <a:gd name="adj" fmla="val 22727"/>
            </a:avLst>
          </a:prstGeom>
          <a:solidFill>
            <a:srgbClr val="10B981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558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286000" y="1905000"/>
            <a:ext cx="152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· 模型抽象层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2489200"/>
            <a:ext cx="29591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2844800"/>
            <a:ext cx="29591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把各家大模型 API 的差异抹平成一套统一接口。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754">
            <a:off x="889014" y="3524250"/>
            <a:ext cx="295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89000" y="3733800"/>
            <a:ext cx="101600" cy="101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92200" y="36322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统一流式 / 结构化输出接口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9000" y="4089400"/>
            <a:ext cx="101600" cy="101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92200" y="39878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Provider / 模型元数据、成本、思考级别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9000" y="4445000"/>
            <a:ext cx="101600" cy="101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92200" y="43434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流式事件、中断、token 记账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9000" y="4800600"/>
            <a:ext cx="101600" cy="101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92200" y="46990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openai-completions 路由接 Ollama / vLLM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" y="5181600"/>
            <a:ext cx="2959100" cy="381000"/>
          </a:xfrm>
          <a:prstGeom prst="roundRect">
            <a:avLst>
              <a:gd name="adj" fmla="val 20000"/>
            </a:avLst>
          </a:prstGeom>
          <a:solidFill>
            <a:srgbClr val="10B981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90600" y="5181600"/>
            <a:ext cx="2857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可独立用作多模型网关 / 评测层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14580">
            <a:off x="4127698" y="354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7" name="AutoShape 27"/>
          <p:cNvSpPr/>
          <p:nvPr/>
        </p:nvSpPr>
        <p:spPr>
          <a:xfrm>
            <a:off x="4356100" y="1574800"/>
            <a:ext cx="3467100" cy="4114800"/>
          </a:xfrm>
          <a:prstGeom prst="roundRect">
            <a:avLst>
              <a:gd name="adj" fmla="val 3663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4356100" y="1574800"/>
            <a:ext cx="34671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610100" y="1828800"/>
            <a:ext cx="558800" cy="558800"/>
          </a:xfrm>
          <a:prstGeom prst="roundRect">
            <a:avLst>
              <a:gd name="adj" fmla="val 22727"/>
            </a:avLst>
          </a:prstGeom>
          <a:solidFill>
            <a:srgbClr val="3B82F6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7100" y="19558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007100" y="1905000"/>
            <a:ext cx="152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Agent 引擎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610100" y="2489200"/>
            <a:ext cx="29591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610100" y="2844800"/>
            <a:ext cx="29591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驱动「模型 ↔ 工具」循环的最小运行时。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4754">
            <a:off x="4610114" y="3524250"/>
            <a:ext cx="295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4610100" y="3733800"/>
            <a:ext cx="101600" cy="101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4813300" y="36322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类与 Agent Loop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610100" y="4089400"/>
            <a:ext cx="101600" cy="101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4813300" y="39878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工具注册 · TypeBox schema · AJV 校验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610100" y="4445000"/>
            <a:ext cx="101600" cy="101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4813300" y="43434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四级生命周期事件流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4610100" y="4800600"/>
            <a:ext cx="101600" cy="101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4813300" y="46990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 / 状态 · steer · followUp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4610100" y="5181600"/>
            <a:ext cx="2959100" cy="381000"/>
          </a:xfrm>
          <a:prstGeom prst="roundRect">
            <a:avLst>
              <a:gd name="adj" fmla="val 20000"/>
            </a:avLst>
          </a:prstGeom>
          <a:solidFill>
            <a:srgbClr val="3B82F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4711700" y="5181600"/>
            <a:ext cx="2857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可独立嵌入自有后端 / 服务</a:t>
            </a:r>
            <a:endParaRPr lang="en-US" sz="1100"/>
          </a:p>
        </p:txBody>
      </p:sp>
      <p:cxnSp>
        <p:nvCxnSpPr>
          <p:cNvPr id="45" name="Connector 45"/>
          <p:cNvCxnSpPr/>
          <p:nvPr/>
        </p:nvCxnSpPr>
        <p:spPr>
          <a:xfrm rot="-214580">
            <a:off x="7848798" y="354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6" name="AutoShape 46"/>
          <p:cNvSpPr/>
          <p:nvPr/>
        </p:nvSpPr>
        <p:spPr>
          <a:xfrm>
            <a:off x="8077200" y="1574800"/>
            <a:ext cx="3467100" cy="4114800"/>
          </a:xfrm>
          <a:prstGeom prst="roundRect">
            <a:avLst>
              <a:gd name="adj" fmla="val 3663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8077200" y="1574800"/>
            <a:ext cx="3467100" cy="50800"/>
          </a:xfrm>
          <a:prstGeom prst="roundRect">
            <a:avLst>
              <a:gd name="adj" fmla="val 5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8331200" y="1828800"/>
            <a:ext cx="558800" cy="558800"/>
          </a:xfrm>
          <a:prstGeom prst="roundRect">
            <a:avLst>
              <a:gd name="adj" fmla="val 22727"/>
            </a:avLst>
          </a:prstGeom>
          <a:solidFill>
            <a:srgbClr val="8B5CF6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8200" y="1955800"/>
            <a:ext cx="304800" cy="304800"/>
          </a:xfrm>
          <a:prstGeom prst="rect">
            <a:avLst/>
          </a:prstGeom>
        </p:spPr>
      </p:pic>
      <p:sp>
        <p:nvSpPr>
          <p:cNvPr id="50" name="AutoShape 50"/>
          <p:cNvSpPr/>
          <p:nvPr/>
        </p:nvSpPr>
        <p:spPr>
          <a:xfrm>
            <a:off x="9728200" y="1905000"/>
            <a:ext cx="152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应用运行时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331200" y="2489200"/>
            <a:ext cx="29591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pi-coding-agent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8331200" y="2844800"/>
            <a:ext cx="29591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把引擎组装成开箱即用的编码助手。</a:t>
            </a:r>
            <a:endParaRPr lang="en-US" sz="1100"/>
          </a:p>
        </p:txBody>
      </p:sp>
      <p:cxnSp>
        <p:nvCxnSpPr>
          <p:cNvPr id="53" name="Connector 53"/>
          <p:cNvCxnSpPr/>
          <p:nvPr/>
        </p:nvCxnSpPr>
        <p:spPr>
          <a:xfrm rot="-14754">
            <a:off x="8331214" y="3524250"/>
            <a:ext cx="295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AutoShape 54"/>
          <p:cNvSpPr/>
          <p:nvPr/>
        </p:nvSpPr>
        <p:spPr>
          <a:xfrm>
            <a:off x="8331200" y="3733800"/>
            <a:ext cx="101600" cy="1016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/>
        </p:nvSpPr>
        <p:spPr>
          <a:xfrm>
            <a:off x="8534400" y="36322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 / TUI（pi-tui 差分渲染）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8331200" y="4089400"/>
            <a:ext cx="101600" cy="1016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57"/>
          <p:cNvSpPr/>
          <p:nvPr/>
        </p:nvSpPr>
        <p:spPr>
          <a:xfrm>
            <a:off x="8534400" y="39878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内置文件工具与只读工具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8331200" y="4445000"/>
            <a:ext cx="101600" cy="1016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59"/>
          <p:cNvSpPr/>
          <p:nvPr/>
        </p:nvSpPr>
        <p:spPr>
          <a:xfrm>
            <a:off x="8534400" y="43434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JSONL 树状会话 · 压缩 · 恢复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8331200" y="4800600"/>
            <a:ext cx="101600" cy="1016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AutoShape 61"/>
          <p:cNvSpPr/>
          <p:nvPr/>
        </p:nvSpPr>
        <p:spPr>
          <a:xfrm>
            <a:off x="8534400" y="4699000"/>
            <a:ext cx="2857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 / Extensions / Prompt / 主题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8331200" y="5181600"/>
            <a:ext cx="2959100" cy="381000"/>
          </a:xfrm>
          <a:prstGeom prst="roundRect">
            <a:avLst>
              <a:gd name="adj" fmla="val 20000"/>
            </a:avLst>
          </a:prstGeom>
          <a:solidFill>
            <a:srgbClr val="8B5CF6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3" name="AutoShape 63"/>
          <p:cNvSpPr/>
          <p:nvPr/>
        </p:nvSpPr>
        <p:spPr>
          <a:xfrm>
            <a:off x="8432800" y="5181600"/>
            <a:ext cx="2857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最终产品，也可 pi install 扩展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635000" y="5867400"/>
            <a:ext cx="10922000" cy="381000"/>
          </a:xfrm>
          <a:prstGeom prst="roundRect">
            <a:avLst>
              <a:gd name="adj" fmla="val 26666"/>
            </a:avLst>
          </a:prstGeom>
          <a:solidFill>
            <a:srgbClr val="FFFF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内容导览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968500" y="279400"/>
            <a:ext cx="762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内容导览 · 五条主线讲透 Pi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38200"/>
            <a:ext cx="10922000" cy="609600"/>
          </a:xfrm>
          <a:prstGeom prst="roundRect">
            <a:avLst>
              <a:gd name="adj" fmla="val 20833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914400"/>
            <a:ext cx="10414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从「Pi 是什么」出发，看清总体架构，再按 pi-ai → pi-agent-core → pi-coding-agent 三层顺序逐层深入，最后掌握扩展体系与选型。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6256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16256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14400" y="1625600"/>
            <a:ext cx="812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1625600"/>
            <a:ext cx="215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认识 Pi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038600" y="1625600"/>
            <a:ext cx="546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定位与一句话哲学、刻意不做的边界、四种使用形态、同类 harness 对比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0" y="1625600"/>
            <a:ext cx="114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P02–04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24892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35000" y="24892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14400" y="2489200"/>
            <a:ext cx="812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78000" y="2489200"/>
            <a:ext cx="215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总体架构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038600" y="2489200"/>
            <a:ext cx="546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技术栈全景图（含 pi-tui 与扩展挂载点）、三层总览与依赖方向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652000" y="2489200"/>
            <a:ext cx="114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P06–07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" y="33528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" y="33528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14400" y="3352800"/>
            <a:ext cx="812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78000" y="3352800"/>
            <a:ext cx="215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· pi-ai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038600" y="3352800"/>
            <a:ext cx="546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模型抽象层：统一多供应商接口、流式调用、成本与思考级别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652000" y="3352800"/>
            <a:ext cx="114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P08–09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" y="42164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35000" y="42164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14400" y="4216400"/>
            <a:ext cx="812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778000" y="4216400"/>
            <a:ext cx="215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agent-core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038600" y="4216400"/>
            <a:ext cx="546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Loop 引擎：为什么循环、生命周期、steer / followUp、工具管线与上下文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652000" y="4216400"/>
            <a:ext cx="114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P10–15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35000" y="50800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35000" y="5080000"/>
            <a:ext cx="63500" cy="762000"/>
          </a:xfrm>
          <a:prstGeom prst="roundRect">
            <a:avLst>
              <a:gd name="adj" fmla="val 4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14400" y="5080000"/>
            <a:ext cx="812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778000" y="5080000"/>
            <a:ext cx="215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</a:t>
            </a:r>
            <a:r>
              <a:rPr lang="en-US" sz="1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coding-agent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038600" y="5080000"/>
            <a:ext cx="546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coding-agent 运行时、装配与会话树，以及六类扩展机制与选型决策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652000" y="5080000"/>
            <a:ext cx="114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P16–24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· PI-AI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22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 · 统一模型抽象层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84200"/>
          </a:xfrm>
          <a:prstGeom prst="roundRect">
            <a:avLst>
              <a:gd name="adj" fmla="val 21739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最底层是一个「会说话的模型客户端」：把各家大模型在消息格式、流式、工具调用、思考、用量上的差异，抹平成一套与厂商无关的接口。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524000"/>
            <a:ext cx="4826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1524000"/>
            <a:ext cx="48260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17272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19200" y="17145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定位与边界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3600" y="2082800"/>
            <a:ext cx="436880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直接对接各厂 SDK，要重复处理流式分片、工具调用协议、思考字段、token 用量与报错；pi-ai 用统一 Provider 接口把这些全部收口，上层只面对「模型」这一种抽象。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993">
            <a:off x="863609" y="3041650"/>
            <a:ext cx="436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" y="3251200"/>
            <a:ext cx="228600" cy="228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93800" y="3225800"/>
            <a:ext cx="406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对上：给 core 一套统一接口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93800" y="3479800"/>
            <a:ext cx="4064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streamText / 结构化输出 / 中断，模型可随时替换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" y="3962400"/>
            <a:ext cx="228600" cy="228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193800" y="3937000"/>
            <a:ext cx="406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对下：屏蔽供应商差异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193800" y="4191000"/>
            <a:ext cx="4064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底层仍调用各厂官方 SDK，能力与用量如实透出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0" y="4724400"/>
            <a:ext cx="228600" cy="228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193800" y="4699000"/>
            <a:ext cx="406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边界：不管循环与工具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93800" y="4953000"/>
            <a:ext cx="4064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不含 Agent Loop、工具执行、会话存储——那是 core / coding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63600" y="5461000"/>
            <a:ext cx="4368800" cy="431800"/>
          </a:xfrm>
          <a:prstGeom prst="roundRect">
            <a:avLst>
              <a:gd name="adj" fmla="val 23529"/>
            </a:avLst>
          </a:prstGeom>
          <a:solidFill>
            <a:srgbClr val="10B981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461000"/>
            <a:ext cx="41656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可独立用于多模型网关、成本统计、评测与简单聊天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715000" y="1524000"/>
            <a:ext cx="2819400" cy="1117600"/>
          </a:xfrm>
          <a:prstGeom prst="roundRect">
            <a:avLst>
              <a:gd name="adj" fmla="val 1136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8200" y="17018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273800" y="16891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Provider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918200" y="2032000"/>
            <a:ext cx="2413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一套接口切换厂商与模型，API Key / OAuth 均可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737600" y="1524000"/>
            <a:ext cx="2819400" cy="1117600"/>
          </a:xfrm>
          <a:prstGeom prst="roundRect">
            <a:avLst>
              <a:gd name="adj" fmla="val 1136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40800" y="17018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296400" y="16891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 streamText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940800" y="2032000"/>
            <a:ext cx="2413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统一的流式分片与可中断 abort 信号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715000" y="2768600"/>
            <a:ext cx="2819400" cy="1117600"/>
          </a:xfrm>
          <a:prstGeom prst="roundRect">
            <a:avLst>
              <a:gd name="adj" fmla="val 1136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18200" y="2946400"/>
            <a:ext cx="254000" cy="2540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6273800" y="29337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元数据与成本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918200" y="3276600"/>
            <a:ext cx="2413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上下文窗口、输入 / 输出单价、token 记账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737600" y="2768600"/>
            <a:ext cx="2819400" cy="1117600"/>
          </a:xfrm>
          <a:prstGeom prst="roundRect">
            <a:avLst>
              <a:gd name="adj" fmla="val 1136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40800" y="2946400"/>
            <a:ext cx="254000" cy="2540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9296400" y="29337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思考级别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940800" y="3276600"/>
            <a:ext cx="2413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thinkingLevel 抽象，跨厂商调节推理深度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715000" y="4013200"/>
            <a:ext cx="2819400" cy="1117600"/>
          </a:xfrm>
          <a:prstGeom prst="roundRect">
            <a:avLst>
              <a:gd name="adj" fmla="val 1136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18200" y="4191000"/>
            <a:ext cx="254000" cy="2540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6273800" y="41783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结构化输出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5918200" y="4521200"/>
            <a:ext cx="2413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统一工具调用与 JSON / schema 结构化结果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737600" y="4013200"/>
            <a:ext cx="2819400" cy="1117600"/>
          </a:xfrm>
          <a:prstGeom prst="roundRect">
            <a:avLst>
              <a:gd name="adj" fmla="val 1136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40800" y="4191000"/>
            <a:ext cx="254000" cy="254000"/>
          </a:xfrm>
          <a:prstGeom prst="rect">
            <a:avLst/>
          </a:prstGeom>
        </p:spPr>
      </p:pic>
      <p:sp>
        <p:nvSpPr>
          <p:cNvPr id="47" name="AutoShape 47"/>
          <p:cNvSpPr/>
          <p:nvPr/>
        </p:nvSpPr>
        <p:spPr>
          <a:xfrm>
            <a:off x="9296400" y="41783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兼容本地端点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940800" y="4521200"/>
            <a:ext cx="2413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openai-completions 路由接 Ollama / vLLM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5715000" y="5283200"/>
            <a:ext cx="5842000" cy="812800"/>
          </a:xfrm>
          <a:prstGeom prst="roundRect">
            <a:avLst>
              <a:gd name="adj" fmla="val 15625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18200" y="5435600"/>
            <a:ext cx="254000" cy="254000"/>
          </a:xfrm>
          <a:prstGeom prst="rect">
            <a:avLst/>
          </a:prstGeom>
        </p:spPr>
      </p:pic>
      <p:sp>
        <p:nvSpPr>
          <p:cNvPr id="51" name="AutoShape 51"/>
          <p:cNvSpPr/>
          <p:nvPr/>
        </p:nvSpPr>
        <p:spPr>
          <a:xfrm>
            <a:off x="6273800" y="5410200"/>
            <a:ext cx="5080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15+ 供应商 · 数百模型 · BYOK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6273800" y="5664200"/>
            <a:ext cx="51054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 · OpenAI · Google · Azure · Bedrock · Groq · xAI · Kimi · OpenRouter · Ollama …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· PI-AI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22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 · 一层树状融汇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787400"/>
            <a:ext cx="10922000" cy="457200"/>
          </a:xfrm>
          <a:prstGeom prst="roundRect">
            <a:avLst>
              <a:gd name="adj" fmla="val 22222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最底层是一个「会说话的模型客户端」——抹平厂商差异，对上给 core 一套统一接口，对下仍用各厂商官方 SDK。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191000" y="1371600"/>
            <a:ext cx="3810000" cy="558800"/>
          </a:xfrm>
          <a:prstGeom prst="roundRect">
            <a:avLst>
              <a:gd name="adj" fmla="val 22727"/>
            </a:avLst>
          </a:prstGeom>
          <a:solidFill>
            <a:srgbClr val="10B981">
              <a:alpha val="25000"/>
            </a:srgbClr>
          </a:solidFill>
          <a:ln w="25400" cap="flat" cmpd="sng">
            <a:solidFill>
              <a:srgbClr val="34D399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 · 统一模型抽象层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10536920">
            <a:off x="2280874" y="2063751"/>
            <a:ext cx="38202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5243846">
            <a:off x="5956300" y="20638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240222">
            <a:off x="6090895" y="2063751"/>
            <a:ext cx="38202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08000" y="2209800"/>
            <a:ext cx="3556000" cy="457200"/>
          </a:xfrm>
          <a:prstGeom prst="roundRect">
            <a:avLst>
              <a:gd name="adj" fmla="val 22222"/>
            </a:avLst>
          </a:prstGeom>
          <a:solidFill>
            <a:srgbClr val="10B981">
              <a:alpha val="18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定位与边界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2209800"/>
            <a:ext cx="3556000" cy="457200"/>
          </a:xfrm>
          <a:prstGeom prst="roundRect">
            <a:avLst>
              <a:gd name="adj" fmla="val 22222"/>
            </a:avLst>
          </a:prstGeom>
          <a:solidFill>
            <a:srgbClr val="10B981">
              <a:alpha val="18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四项核心能力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209800"/>
            <a:ext cx="3556000" cy="457200"/>
          </a:xfrm>
          <a:prstGeom prst="roundRect">
            <a:avLst>
              <a:gd name="adj" fmla="val 22222"/>
            </a:avLst>
          </a:prstGeom>
          <a:solidFill>
            <a:srgbClr val="10B981">
              <a:alpha val="18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流式调用四步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114181">
            <a:off x="2209800" y="27371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5114181">
            <a:off x="6019800" y="27371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5114181">
            <a:off x="9829800" y="27371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508000" y="2819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会说话的模型客户端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抹平消息格式、流式、工具调用、用量差异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3454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对上：给 core 统一接口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streamText / 结构化输出 / 中断，模型可替换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4089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对下：屏蔽供应商差异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底层仍用各厂商官方 SDK，能力用量如实透出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4724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87171">
              <a:alpha val="10000"/>
            </a:srgbClr>
          </a:solidFill>
          <a:ln w="12700" cap="flat" cmpd="sng">
            <a:solidFill>
              <a:srgbClr val="F8717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FECAC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边界：不管循环 / 工具 / 持久化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不含 Agent Loop、工具执行、会话存储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318000" y="2819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Provider 工厂 + 模型元数据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一套接口切换厂商，15+ 供应商 BYOK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4318000" y="3454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Message / Tool 类型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参数用 TypeBox，自动翻译各厂商协议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0" y="4089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事件流，而非一次性返回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text-delta / tool-call / usage / finish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318000" y="4724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可中断 + 成本现算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abortSignal 中止；usage 实时算花费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128000" y="2819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选 Provider 与模型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getModel 拿上下文窗口、单价、能力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128000" y="3454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组装统一请求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systemPrompt + messages + tools + level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128000" y="4089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流式调用，逐块到达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事件流：文字 / 工具调用 / 用量 / 结束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128000" y="4724400"/>
            <a:ext cx="3556000" cy="5334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消费事件流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逐块写文字、遇工具就执行、累计花费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5000" y="5562600"/>
            <a:ext cx="10922000" cy="431800"/>
          </a:xfrm>
          <a:prstGeom prst="roundRect">
            <a:avLst>
              <a:gd name="adj" fmla="val 23529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原则：薄封装、无损 pass-through——不重造 HTTP，能力与用量如实透出；可独立用于多模型网关、成本统计、评测与简单聊天。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AGENT-CORE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476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 · 是什么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762000"/>
            <a:ext cx="10922000" cy="381000"/>
          </a:xfrm>
          <a:prstGeom prst="roundRect">
            <a:avLst>
              <a:gd name="adj" fmla="val 26666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初始配置进 → 循环引擎跑 → 过程通知出；热更是旁路，不打断当前轮，下一轮生效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1333500"/>
            <a:ext cx="2286000" cy="3365500"/>
          </a:xfrm>
          <a:prstGeom prst="roundRect">
            <a:avLst>
              <a:gd name="adj" fmla="val 5555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33400" y="1435100"/>
            <a:ext cx="1905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 · 初始配置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33400" y="1803400"/>
            <a:ext cx="1968500" cy="381000"/>
          </a:xfrm>
          <a:prstGeom prst="roundRect">
            <a:avLst>
              <a:gd name="adj" fmla="val 13333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系统提示词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角色规则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" y="2235200"/>
            <a:ext cx="1968500" cy="381000"/>
          </a:xfrm>
          <a:prstGeom prst="roundRect">
            <a:avLst>
              <a:gd name="adj" fmla="val 13333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  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来自 pi-ai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33400" y="2667000"/>
            <a:ext cx="1968500" cy="381000"/>
          </a:xfrm>
          <a:prstGeom prst="roundRect">
            <a:avLst>
              <a:gd name="adj" fmla="val 13333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可用工具集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可调用什么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3400" y="3098800"/>
            <a:ext cx="1968500" cy="381000"/>
          </a:xfrm>
          <a:prstGeom prst="roundRect">
            <a:avLst>
              <a:gd name="adj" fmla="val 13333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推理深度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思考级别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14549">
            <a:off x="2667106" y="2978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3048000" y="1270000"/>
            <a:ext cx="5842000" cy="3937000"/>
          </a:xfrm>
          <a:prstGeom prst="roundRect">
            <a:avLst>
              <a:gd name="adj" fmla="val 3870"/>
            </a:avLst>
          </a:prstGeom>
          <a:gradFill rotWithShape="1">
            <a:gsLst>
              <a:gs pos="0">
                <a:srgbClr val="3B82F6">
                  <a:alpha val="20000"/>
                </a:srgbClr>
              </a:gs>
              <a:gs pos="100000">
                <a:srgbClr val="2563EB">
                  <a:alpha val="12000"/>
                </a:srgbClr>
              </a:gs>
            </a:gsLst>
            <a:lin ang="4200000"/>
          </a:gradFill>
          <a:ln w="25400" cap="flat" cmpd="sng">
            <a:solidFill>
              <a:srgbClr val="60A5FA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200400" y="1346200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循环引擎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302000" y="1714500"/>
            <a:ext cx="1968500" cy="609600"/>
          </a:xfrm>
          <a:prstGeom prst="roundRect">
            <a:avLst>
              <a:gd name="adj" fmla="val 1250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热更请求（旁路）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7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切模型/工具/提示词，下一轮生效，不打断当前</a:t>
            </a:r>
            <a:endParaRPr lang="en-US" sz="7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136077">
            <a:off x="4197350" y="2400544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7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/>
          <p:nvPr/>
        </p:nvSpPr>
        <p:spPr>
          <a:xfrm>
            <a:off x="3302000" y="2489200"/>
            <a:ext cx="2032000" cy="3302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组织上下文 → 发模型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4972499">
            <a:off x="4267200" y="28642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3302000" y="2921000"/>
            <a:ext cx="2032000" cy="3302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模型流式返回回复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4972499">
            <a:off x="4267200" y="32960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3302000" y="3352800"/>
            <a:ext cx="2032000" cy="330200"/>
          </a:xfrm>
          <a:prstGeom prst="roundRect">
            <a:avLst>
              <a:gd name="adj" fmla="val 15384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工具并行执行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4972499">
            <a:off x="4267200" y="37278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4" name="AutoShape 24"/>
          <p:cNvSpPr/>
          <p:nvPr/>
        </p:nvSpPr>
        <p:spPr>
          <a:xfrm>
            <a:off x="3302000" y="3784600"/>
            <a:ext cx="2032000" cy="3302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结果回灌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14549">
            <a:off x="5334106" y="39433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7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26" name="Connector 26"/>
          <p:cNvCxnSpPr/>
          <p:nvPr/>
        </p:nvCxnSpPr>
        <p:spPr>
          <a:xfrm rot="-5433702">
            <a:off x="5067300" y="3295619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7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27" name="Connector 27"/>
          <p:cNvCxnSpPr/>
          <p:nvPr/>
        </p:nvCxnSpPr>
        <p:spPr>
          <a:xfrm rot="10677275">
            <a:off x="5359287" y="26479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7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28" name="AutoShape 28"/>
          <p:cNvSpPr/>
          <p:nvPr/>
        </p:nvSpPr>
        <p:spPr>
          <a:xfrm>
            <a:off x="5461000" y="3238500"/>
            <a:ext cx="508000" cy="177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57290">
            <a:off x="5334053" y="35115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096000" y="3390900"/>
            <a:ext cx="889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用户输入？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3130028">
            <a:off x="6873066" y="3276548"/>
            <a:ext cx="60495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2" name="AutoShape 32"/>
          <p:cNvSpPr/>
          <p:nvPr/>
        </p:nvSpPr>
        <p:spPr>
          <a:xfrm>
            <a:off x="7366000" y="2730500"/>
            <a:ext cx="1270000" cy="622300"/>
          </a:xfrm>
          <a:prstGeom prst="roundRect">
            <a:avLst>
              <a:gd name="adj" fmla="val 13636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5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Steering转向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7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</a:t>
            </a:r>
            <a:r>
              <a:rPr lang="en-US" sz="7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</a:t>
            </a:r>
            <a:r>
              <a:rPr lang="zh-CN" altLang="en-US" sz="7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r>
              <a:rPr lang="en-US" sz="7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完即中断，注入</a:t>
            </a:r>
            <a:r>
              <a:rPr lang="zh-CN" altLang="en-US" sz="7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新消息</a:t>
            </a:r>
            <a:r>
              <a:rPr lang="en-US" sz="7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下一轮</a:t>
            </a:r>
            <a:endParaRPr lang="en-US" sz="7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3" name="Connector 33"/>
          <p:cNvCxnSpPr/>
          <p:nvPr/>
        </p:nvCxnSpPr>
        <p:spPr>
          <a:xfrm rot="2732496">
            <a:off x="6897017" y="3854503"/>
            <a:ext cx="55706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4" name="AutoShape 34"/>
          <p:cNvSpPr/>
          <p:nvPr/>
        </p:nvSpPr>
        <p:spPr>
          <a:xfrm>
            <a:off x="7366000" y="3873500"/>
            <a:ext cx="1270000" cy="558800"/>
          </a:xfrm>
          <a:prstGeom prst="roundRect">
            <a:avLst>
              <a:gd name="adj" fmla="val 13636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>
                <a:solidFill>
                  <a:schemeClr val="accent2"/>
                </a:solidFill>
              </a:rPr>
              <a:t>Follow-up</a:t>
            </a:r>
            <a:endParaRPr lang="en-US" sz="1100">
              <a:solidFill>
                <a:schemeClr val="accent2"/>
              </a:solidFill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7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排队等待，全部完成后处理</a:t>
            </a:r>
            <a:endParaRPr lang="en-US" sz="7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5" name="Connector 35"/>
          <p:cNvCxnSpPr/>
          <p:nvPr/>
        </p:nvCxnSpPr>
        <p:spPr>
          <a:xfrm rot="-137436">
            <a:off x="8890127" y="2978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6" name="AutoShape 36"/>
          <p:cNvSpPr/>
          <p:nvPr/>
        </p:nvSpPr>
        <p:spPr>
          <a:xfrm>
            <a:off x="9207500" y="1333500"/>
            <a:ext cx="2286000" cy="3365500"/>
          </a:xfrm>
          <a:prstGeom prst="roundRect">
            <a:avLst>
              <a:gd name="adj" fmla="val 5555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359900" y="1435100"/>
            <a:ext cx="1905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 · 过程通知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359900" y="1803400"/>
            <a:ext cx="1968500" cy="381000"/>
          </a:xfrm>
          <a:prstGeom prst="roundRect">
            <a:avLst>
              <a:gd name="adj" fmla="val 13333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会话通知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开始/结束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359900" y="2235200"/>
            <a:ext cx="1968500" cy="381000"/>
          </a:xfrm>
          <a:prstGeom prst="roundRect">
            <a:avLst>
              <a:gd name="adj" fmla="val 13333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每轮通知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一轮开始/结束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359900" y="2667000"/>
            <a:ext cx="1968500" cy="381000"/>
          </a:xfrm>
          <a:prstGeom prst="roundRect">
            <a:avLst>
              <a:gd name="adj" fmla="val 13333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模型输出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文字逐字流出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359900" y="3098800"/>
            <a:ext cx="1968500" cy="381000"/>
          </a:xfrm>
          <a:prstGeom prst="roundRect">
            <a:avLst>
              <a:gd name="adj" fmla="val 13333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工具通知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调用/结果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207500" y="3683000"/>
            <a:ext cx="2286000" cy="954405"/>
          </a:xfrm>
          <a:prstGeom prst="roundRect">
            <a:avLst>
              <a:gd name="adj" fmla="val 15000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60A5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7620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为什么不是直接给结果？</a:t>
            </a:r>
            <a:endParaRPr lang="en-US" sz="1100"/>
          </a:p>
          <a:p>
            <a:pPr marL="76200"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是引擎，</a:t>
            </a:r>
            <a:r>
              <a:rPr lang="zh-CN" alt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每一步都会广播消息</a:t>
            </a:r>
            <a:r>
              <a:rPr 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，终端界面</a:t>
            </a:r>
            <a:r>
              <a:rPr lang="zh-CN" alt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收到消息触发</a:t>
            </a:r>
            <a:r>
              <a:rPr lang="zh-CN" alt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相关命令</a:t>
            </a:r>
            <a:r>
              <a:rPr 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把这些通知拼成你看到的对话</a:t>
            </a:r>
            <a:endParaRPr lang="en-US" sz="8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635000" y="5461000"/>
            <a:ext cx="10922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不含：</a:t>
            </a: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文件工具、会话持久化、压缩、技能、扩展、界面　　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AGENT-CORE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95500" y="279400"/>
            <a:ext cx="8382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 Loop · 从一问一答到自主执行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58800"/>
          </a:xfrm>
          <a:prstGeom prst="roundRect">
            <a:avLst>
              <a:gd name="adj" fmla="val 22727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大模型本身是无状态的：一次请求只回一条消息。Agent 的「自主性」来自外层一个 while 循环——不断请求模型、执行它要的工具、把结果喂回去，直到它给出最终答复。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1574800"/>
            <a:ext cx="1651000" cy="762000"/>
          </a:xfrm>
          <a:prstGeom prst="roundRect">
            <a:avLst>
              <a:gd name="adj" fmla="val 16666"/>
            </a:avLst>
          </a:prstGeom>
          <a:solidFill>
            <a:srgbClr val="10B981">
              <a:alpha val="16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15748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一条消息 / 指令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175000" y="1574800"/>
            <a:ext cx="1651000" cy="762000"/>
          </a:xfrm>
          <a:prstGeom prst="roundRect">
            <a:avLst>
              <a:gd name="adj" fmla="val 16666"/>
            </a:avLst>
          </a:prstGeom>
          <a:solidFill>
            <a:srgbClr val="3B82F6">
              <a:alpha val="16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175000" y="15748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发送给模型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携带消息历史与工具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88000" y="1447800"/>
            <a:ext cx="1651000" cy="1016000"/>
          </a:xfrm>
          <a:prstGeom prst="diamond">
            <a:avLst/>
          </a:prstGeom>
          <a:solidFill>
            <a:srgbClr val="F59E0B">
              <a:alpha val="16000"/>
            </a:srgbClr>
          </a:solidFill>
          <a:ln w="12700" cap="flat" cmpd="sng">
            <a:solidFill>
              <a:srgbClr val="F59E0B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702300" y="1447800"/>
            <a:ext cx="14224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模型要调</a:t>
            </a:r>
            <a:b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工具吗？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0" y="1574800"/>
            <a:ext cx="1651000" cy="762000"/>
          </a:xfrm>
          <a:prstGeom prst="roundRect">
            <a:avLst>
              <a:gd name="adj" fmla="val 16666"/>
            </a:avLst>
          </a:prstGeom>
          <a:solidFill>
            <a:srgbClr val="10B981">
              <a:alpha val="16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890000" y="15748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输出最终回复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不再调工具，结束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88000" y="3048000"/>
            <a:ext cx="1651000" cy="762000"/>
          </a:xfrm>
          <a:prstGeom prst="roundRect">
            <a:avLst>
              <a:gd name="adj" fmla="val 16666"/>
            </a:avLst>
          </a:prstGeom>
          <a:solidFill>
            <a:srgbClr val="3B82F6">
              <a:alpha val="16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588000" y="30480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执行工具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read / bash / edit / write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59265">
            <a:off x="2413055" y="19494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9" name="Connector 19"/>
          <p:cNvCxnSpPr/>
          <p:nvPr/>
        </p:nvCxnSpPr>
        <p:spPr>
          <a:xfrm rot="-59265">
            <a:off x="4826055" y="19494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0" name="Connector 20"/>
          <p:cNvCxnSpPr/>
          <p:nvPr/>
        </p:nvCxnSpPr>
        <p:spPr>
          <a:xfrm rot="-27283">
            <a:off x="7264425" y="19494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/>
        </p:nvSpPr>
        <p:spPr>
          <a:xfrm>
            <a:off x="7772400" y="1727200"/>
            <a:ext cx="381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否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18164">
            <a:off x="6146800" y="2749626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95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6502400" y="2641600"/>
            <a:ext cx="381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10770618">
            <a:off x="4102073" y="3422650"/>
            <a:ext cx="1485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9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" name="Connector 25"/>
          <p:cNvCxnSpPr/>
          <p:nvPr/>
        </p:nvCxnSpPr>
        <p:spPr>
          <a:xfrm rot="-5440923">
            <a:off x="3568700" y="2889212"/>
            <a:ext cx="106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/>
        </p:nvSpPr>
        <p:spPr>
          <a:xfrm>
            <a:off x="4191000" y="3505200"/>
            <a:ext cx="1270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结果回灌，继续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" y="40894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5000" y="4089400"/>
            <a:ext cx="53340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42926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219200" y="4267200"/>
            <a:ext cx="457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外层 · Agent 会话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63600" y="4648200"/>
            <a:ext cx="4876800" cy="330200"/>
          </a:xfrm>
          <a:prstGeom prst="roundRect">
            <a:avLst>
              <a:gd name="adj" fmla="val 23076"/>
            </a:avLst>
          </a:prstGeom>
          <a:solidFill>
            <a:srgbClr val="3B82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63600" y="4648200"/>
            <a:ext cx="48768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agent_start　→　turn × N　→　agent_end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3600" y="5080000"/>
            <a:ext cx="4876800" cy="812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一次启动到退出 = 一个 Agent，持有会话级状态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systemPrompt、model、tools、thinkingLevel、消息历史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配置变更（setModel 等）在下一 turn 生效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223000" y="40894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223000" y="4089400"/>
            <a:ext cx="53340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1600" y="42926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6807200" y="4267200"/>
            <a:ext cx="457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内层 · Turn 循环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451600" y="4648200"/>
            <a:ext cx="4876800" cy="330200"/>
          </a:xfrm>
          <a:prstGeom prst="roundRect">
            <a:avLst>
              <a:gd name="adj" fmla="val 23076"/>
            </a:avLst>
          </a:prstGeom>
          <a:solidFill>
            <a:srgbClr val="3B82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451600" y="4648200"/>
            <a:ext cx="48768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turn_start　→　( 模型 ⇄ 工具 ) × N　→　turn_end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451600" y="5080000"/>
            <a:ext cx="4876800" cy="812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一次用户提交（Enter）= 一个 turn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turn 内可发生多轮「请求模型 → 并行执行工具」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turn_end 后回到等待输入，外层会话继续存活</a:t>
            </a:r>
            <a:endParaRPr lang="en-US" sz="11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635000" y="6121400"/>
            <a:ext cx="10922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双层嵌套：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内层 Turn 循环是外层 Agent 会话中单个 turn 的放大——这正是 pi-agent-core 中 Agent 类的运行骨架。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AGENT-CORE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476500" y="279400"/>
            <a:ext cx="889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Loop · 生命周期与中断模式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787400"/>
            <a:ext cx="101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启动阶段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066800"/>
            <a:ext cx="2349500" cy="457200"/>
          </a:xfrm>
          <a:prstGeom prst="roundRect">
            <a:avLst>
              <a:gd name="adj" fmla="val 16666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目录信任检查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确认目录可信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171744">
            <a:off x="2984659" y="1289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3238500" y="1066800"/>
            <a:ext cx="2349500" cy="457200"/>
          </a:xfrm>
          <a:prstGeom prst="roundRect">
            <a:avLst>
              <a:gd name="adj" fmla="val 16666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加载历史会话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恢复上次对话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171744">
            <a:off x="5588159" y="1289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5842000" y="1066800"/>
            <a:ext cx="2349500" cy="457200"/>
          </a:xfrm>
          <a:prstGeom prst="roundRect">
            <a:avLst>
              <a:gd name="adj" fmla="val 16666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发现资源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发现指令技能扩展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171744">
            <a:off x="8191659" y="1289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8445500" y="1066800"/>
            <a:ext cx="2349500" cy="457200"/>
          </a:xfrm>
          <a:prstGeom prst="roundRect">
            <a:avLst>
              <a:gd name="adj" fmla="val 16666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装载静态上下文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项目规则和技能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5228255">
            <a:off x="9244330" y="180800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5" name="AutoShape 15"/>
          <p:cNvSpPr/>
          <p:nvPr/>
        </p:nvSpPr>
        <p:spPr>
          <a:xfrm>
            <a:off x="635000" y="1778000"/>
            <a:ext cx="101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Turn 循环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" y="2057400"/>
            <a:ext cx="10159365" cy="2540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3B82F6">
                  <a:alpha val="18000"/>
                </a:srgbClr>
              </a:gs>
              <a:gs pos="100000">
                <a:srgbClr val="2563EB">
                  <a:alpha val="10000"/>
                </a:srgbClr>
              </a:gs>
            </a:gsLst>
            <a:lin ang="4200000"/>
          </a:gradFill>
          <a:ln w="25400" cap="flat" cmpd="sng">
            <a:solidFill>
              <a:srgbClr val="60A5F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9000" y="2184400"/>
            <a:ext cx="2286000" cy="3302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本轮开始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4972499">
            <a:off x="1981200" y="25594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889000" y="2616200"/>
            <a:ext cx="2286000" cy="3302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裁剪上下文 / RAG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4972499">
            <a:off x="1981200" y="29912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/>
        </p:nvSpPr>
        <p:spPr>
          <a:xfrm>
            <a:off x="889000" y="3048000"/>
            <a:ext cx="2286000" cy="3302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调模型（流式输出）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4972499">
            <a:off x="1981200" y="34230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889000" y="3479800"/>
            <a:ext cx="2286000" cy="330200"/>
          </a:xfrm>
          <a:prstGeom prst="roundRect">
            <a:avLst>
              <a:gd name="adj" fmla="val 15384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工具并行执行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4972499">
            <a:off x="1981200" y="38548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25"/>
          <p:cNvSpPr/>
          <p:nvPr/>
        </p:nvSpPr>
        <p:spPr>
          <a:xfrm>
            <a:off x="889000" y="3911600"/>
            <a:ext cx="2286000" cy="330200"/>
          </a:xfrm>
          <a:prstGeom prst="roundRect">
            <a:avLst>
              <a:gd name="adj" fmla="val 15384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本轮结束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14549">
            <a:off x="3175106" y="40703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7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27" name="Connector 27"/>
          <p:cNvCxnSpPr/>
          <p:nvPr/>
        </p:nvCxnSpPr>
        <p:spPr>
          <a:xfrm rot="-5425277">
            <a:off x="2692400" y="3206727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7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28" name="Connector 28"/>
          <p:cNvCxnSpPr/>
          <p:nvPr/>
        </p:nvCxnSpPr>
        <p:spPr>
          <a:xfrm rot="10677275">
            <a:off x="3200287" y="23431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7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cxnSp>
        <p:nvCxnSpPr>
          <p:cNvPr id="29" name="Connector 29"/>
          <p:cNvCxnSpPr/>
          <p:nvPr/>
        </p:nvCxnSpPr>
        <p:spPr>
          <a:xfrm rot="-38195">
            <a:off x="3175035" y="3638550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4318000" y="3517900"/>
            <a:ext cx="889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用户输入？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flipV="1">
            <a:off x="5207000" y="2985538"/>
            <a:ext cx="618991" cy="65936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2" name="AutoShape 32"/>
          <p:cNvSpPr/>
          <p:nvPr/>
        </p:nvSpPr>
        <p:spPr>
          <a:xfrm>
            <a:off x="5937250" y="2413635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 Enter · 转向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当前工具批次完成后立即中断</a:t>
            </a:r>
            <a:endParaRPr lang="en-US" sz="8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新输入注入下一轮</a:t>
            </a:r>
            <a:endParaRPr lang="en-US" sz="8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3" name="Connector 33"/>
          <p:cNvCxnSpPr/>
          <p:nvPr/>
        </p:nvCxnSpPr>
        <p:spPr>
          <a:xfrm>
            <a:off x="5207000" y="3771900"/>
            <a:ext cx="690880" cy="55054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4" name="AutoShape 34"/>
          <p:cNvSpPr/>
          <p:nvPr/>
        </p:nvSpPr>
        <p:spPr>
          <a:xfrm>
            <a:off x="6032500" y="37719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 Alt+Enter · 补充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不打断当前工具，新输入排队</a:t>
            </a:r>
            <a:endParaRPr lang="en-US" sz="8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全部完成后才处理</a:t>
            </a:r>
            <a:endParaRPr lang="en-US" sz="8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5" name="Connector 35"/>
          <p:cNvCxnSpPr/>
          <p:nvPr/>
        </p:nvCxnSpPr>
        <p:spPr>
          <a:xfrm rot="5228255">
            <a:off x="4165600" y="483060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6" name="AutoShape 36"/>
          <p:cNvSpPr/>
          <p:nvPr/>
        </p:nvSpPr>
        <p:spPr>
          <a:xfrm>
            <a:off x="635000" y="4851400"/>
            <a:ext cx="101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结束阶段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5000" y="5130800"/>
            <a:ext cx="2349500" cy="457200"/>
          </a:xfrm>
          <a:prstGeom prst="roundRect">
            <a:avLst>
              <a:gd name="adj" fmla="val 16666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本轮做完了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本轮任务完成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8" name="Connector 38"/>
          <p:cNvCxnSpPr/>
          <p:nvPr/>
        </p:nvCxnSpPr>
        <p:spPr>
          <a:xfrm rot="-171744">
            <a:off x="2984659" y="5353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9" name="AutoShape 39"/>
          <p:cNvSpPr/>
          <p:nvPr/>
        </p:nvSpPr>
        <p:spPr>
          <a:xfrm>
            <a:off x="3238500" y="5130800"/>
            <a:ext cx="2349500" cy="457200"/>
          </a:xfrm>
          <a:prstGeom prst="roundRect">
            <a:avLst>
              <a:gd name="adj" fmla="val 16666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对话太长？压缩历史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自动总结旧对话，省空间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0" name="Connector 40"/>
          <p:cNvCxnSpPr/>
          <p:nvPr/>
        </p:nvCxnSpPr>
        <p:spPr>
          <a:xfrm rot="-171744">
            <a:off x="5588159" y="5353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1" name="AutoShape 41"/>
          <p:cNvSpPr/>
          <p:nvPr/>
        </p:nvSpPr>
        <p:spPr>
          <a:xfrm>
            <a:off x="5842000" y="5130800"/>
            <a:ext cx="2349500" cy="457200"/>
          </a:xfrm>
          <a:prstGeom prst="roundRect">
            <a:avLst>
              <a:gd name="adj" fmla="val 16666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下一步干什么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分叉新对话 / 切分支 / 退出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2" name="Connector 42"/>
          <p:cNvCxnSpPr/>
          <p:nvPr/>
        </p:nvCxnSpPr>
        <p:spPr>
          <a:xfrm rot="-171744">
            <a:off x="8191659" y="5353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3" name="AutoShape 43"/>
          <p:cNvSpPr/>
          <p:nvPr/>
        </p:nvSpPr>
        <p:spPr>
          <a:xfrm>
            <a:off x="8445500" y="5130800"/>
            <a:ext cx="2349500" cy="457200"/>
          </a:xfrm>
          <a:prstGeom prst="roundRect">
            <a:avLst>
              <a:gd name="adj" fmla="val 16666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换个模型？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下一轮用新模型或新思考级别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2794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8000"/>
            </a:srgbClr>
          </a:solidFill>
          <a:ln w="12700" cap="flat" cmpd="sng">
            <a:solidFill>
              <a:srgbClr val="60A5FA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AGENT-CORE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095500" y="254000"/>
            <a:ext cx="8128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steer vs followUp · 两种打断在流程上的区别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76000" y="304800"/>
            <a:ext cx="50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787400"/>
            <a:ext cx="10922000" cy="482600"/>
          </a:xfrm>
          <a:prstGeom prst="roundRect">
            <a:avLst>
              <a:gd name="adj" fmla="val 2105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场景：Agent 正在「读 utils.ts → 改排序函数 → 跑测试」，你中途发现方向错了。steer 立刻叫停换方向，followUp 等这轮测完再追加需求——两条路径完全不同。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397000"/>
            <a:ext cx="5334000" cy="4064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 w="25400" cap="flat" cmpd="sng">
            <a:solidFill>
              <a:srgbClr val="F59E0B">
                <a:alpha val="8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steer · Enter 键　立即改道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334000" cy="406400"/>
          </a:xfrm>
          <a:prstGeom prst="roundRect">
            <a:avLst>
              <a:gd name="adj" fmla="val 25000"/>
            </a:avLst>
          </a:prstGeom>
          <a:solidFill>
            <a:srgbClr val="3B82F6">
              <a:alpha val="20000"/>
            </a:srgbClr>
          </a:solidFill>
          <a:ln w="25400" cap="flat" cmpd="sng">
            <a:solidFill>
              <a:srgbClr val="60A5FA">
                <a:alpha val="8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followUp · Alt+Enter 键　排队等候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19304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　turn 进行中 · 工具 A 执行中（B、C 排队）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057364">
            <a:off x="3238500" y="24196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635000" y="24892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F59E0B">
              <a:alpha val="22000"/>
            </a:srgbClr>
          </a:solidFill>
          <a:ln w="25400" cap="flat" cmpd="sng">
            <a:solidFill>
              <a:srgbClr val="F59E0B">
                <a:alpha val="9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　用户按下 Enter（steer）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057364">
            <a:off x="3238500" y="29784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635000" y="30480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F59E0B">
              <a:alpha val="14000"/>
            </a:srgbClr>
          </a:solidFill>
          <a:ln w="12700" cap="flat" cmpd="sng">
            <a:solidFill>
              <a:srgbClr val="F59E0B">
                <a:alpha val="7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　工具 A 一完成 → 立即中断当前 turn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057364">
            <a:off x="3238500" y="35372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87171">
                <a:alpha val="85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5" name="AutoShape 15"/>
          <p:cNvSpPr/>
          <p:nvPr/>
        </p:nvSpPr>
        <p:spPr>
          <a:xfrm>
            <a:off x="635000" y="36068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F87171">
              <a:alpha val="12000"/>
            </a:srgbClr>
          </a:solidFill>
          <a:ln w="25400" cap="flat" cmpd="sng">
            <a:solidFill>
              <a:srgbClr val="F87171">
                <a:alpha val="85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FCA5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　跳过排队工具 B、C（不再执行）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057364">
            <a:off x="3238500" y="40960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635000" y="41656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10B981">
              <a:alpha val="14000"/>
            </a:srgbClr>
          </a:solidFill>
          <a:ln w="25400" cap="flat" cmpd="sng">
            <a:solidFill>
              <a:srgbClr val="34D399">
                <a:alpha val="8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　新输入立即注入 · 继续当前 turn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9304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　turn 进行中 · 工具 A 执行中（B、C 排队）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057364">
            <a:off x="8826500" y="24196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6223000" y="24892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3B82F6">
              <a:alpha val="22000"/>
            </a:srgbClr>
          </a:solidFill>
          <a:ln w="25400" cap="flat" cmpd="sng">
            <a:solidFill>
              <a:srgbClr val="60A5FA">
                <a:alpha val="9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　用户按下 Alt+Enter（followUp）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057364">
            <a:off x="8826500" y="29784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223000" y="30480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3B82F6">
              <a:alpha val="10000"/>
            </a:srgbClr>
          </a:solidFill>
          <a:ln w="25400" cap="flat" cmpd="sng">
            <a:solidFill>
              <a:srgbClr val="60A5FA">
                <a:alpha val="7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　新输入进入队列 · 不打断当前 turn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057364">
            <a:off x="8826500" y="35372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4" name="AutoShape 24"/>
          <p:cNvSpPr/>
          <p:nvPr/>
        </p:nvSpPr>
        <p:spPr>
          <a:xfrm>
            <a:off x="6223000" y="36068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34D399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　工具 A→B→C 全部自然跑完 → turn_end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057364">
            <a:off x="8826500" y="40960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/>
        </p:nvSpPr>
        <p:spPr>
          <a:xfrm>
            <a:off x="6223000" y="4165600"/>
            <a:ext cx="5334000" cy="431800"/>
          </a:xfrm>
          <a:prstGeom prst="roundRect">
            <a:avLst>
              <a:gd name="adj" fmla="val 17647"/>
            </a:avLst>
          </a:prstGeom>
          <a:solidFill>
            <a:srgbClr val="3B82F6">
              <a:alpha val="14000"/>
            </a:srgbClr>
          </a:solidFill>
          <a:ln w="25400" cap="flat" cmpd="sng">
            <a:solidFill>
              <a:srgbClr val="60A5FA">
                <a:alpha val="8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　新输入作为下一条 · 进入下一 turn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" y="4749800"/>
            <a:ext cx="5334000" cy="508000"/>
          </a:xfrm>
          <a:prstGeom prst="roundRect">
            <a:avLst>
              <a:gd name="adj" fmla="val 2000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当前工具一完成就中断，跳过其余排队工具，新输入立即生效——用于临时改向、紧急叫停。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4749800"/>
            <a:ext cx="5334000" cy="508000"/>
          </a:xfrm>
          <a:prstGeom prst="roundRect">
            <a:avLst>
              <a:gd name="adj" fmla="val 2000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不打断，排队等本轮自然结束，再作为下一条处理——用于补充要求、顺序执行。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" y="5435600"/>
            <a:ext cx="10922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62000" y="5435600"/>
            <a:ext cx="254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steer：Enter</a:t>
            </a:r>
            <a:endParaRPr lang="en-US" sz="1050" b="1" i="0" u="none" strike="noStrike">
              <a:solidFill>
                <a:srgbClr val="FDE6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followUp：Alt+Enter</a:t>
            </a:r>
            <a:endParaRPr lang="en-US" sz="1050" b="1" i="0" u="none" strike="noStrike">
              <a:solidFill>
                <a:srgbClr val="BFDB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3429000" y="5435600"/>
            <a:ext cx="254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对排队工具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1" i="0" u="none" strike="noStrike">
                <a:solidFill>
                  <a:srgbClr val="FCA5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steer：立即跳过</a:t>
            </a:r>
            <a:endParaRPr lang="en-US" sz="1050" b="1" i="0" u="none" strike="noStrike">
              <a:solidFill>
                <a:srgbClr val="FCA5A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followUp：全部执行</a:t>
            </a:r>
            <a:endParaRPr lang="en-US" sz="1050" b="1" i="0" u="none" strike="noStrike">
              <a:solidFill>
                <a:srgbClr val="A7F3D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096000" y="5435600"/>
            <a:ext cx="254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新输入去向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steer：注入当前 turn</a:t>
            </a:r>
            <a:endParaRPr lang="en-US" sz="1050" b="1" i="0" u="none" strike="noStrike">
              <a:solidFill>
                <a:srgbClr val="FDE6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followUp：下一 turn</a:t>
            </a:r>
            <a:endParaRPr lang="en-US" sz="1050" b="1" i="0" u="none" strike="noStrike">
              <a:solidFill>
                <a:srgbClr val="BFDB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763000" y="5435600"/>
            <a:ext cx="2667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典型用途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steer：临时改向、叫停</a:t>
            </a:r>
            <a:endParaRPr lang="en-US" sz="1050" b="1" i="0" u="none" strike="noStrike">
              <a:solidFill>
                <a:srgbClr val="FDE6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followUp：补充要求、顺序执行</a:t>
            </a:r>
            <a:endParaRPr lang="en-US" sz="1050" b="1" i="0" u="none" strike="noStrike">
              <a:solidFill>
                <a:srgbClr val="BFDB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AGENT-CORE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603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工具管线 · 从定义到双路返回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84200"/>
          </a:xfrm>
          <a:prstGeom prst="roundRect">
            <a:avLst>
              <a:gd name="adj" fmla="val 21739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工具是给模型的「新动作」：core 只定义机制——描述让模型可见、参数先校验、执行可并行、结果分两路返回。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549400"/>
            <a:ext cx="1981200" cy="2184400"/>
          </a:xfrm>
          <a:prstGeom prst="roundRect">
            <a:avLst>
              <a:gd name="adj" fmla="val 641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12800" y="1727200"/>
            <a:ext cx="330200" cy="3302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159000"/>
            <a:ext cx="177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定义工具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2463800"/>
            <a:ext cx="17272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name · label · description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95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parameters</a:t>
            </a: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（TypeBox）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95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execute(args, ctx)</a:t>
            </a:r>
            <a:endParaRPr lang="en-US" sz="950" b="0" i="0" u="none" strike="noStrike">
              <a:solidFill>
                <a:srgbClr val="93C5F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214580">
            <a:off x="2641798" y="26352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2870200" y="1549400"/>
            <a:ext cx="1981200" cy="2184400"/>
          </a:xfrm>
          <a:prstGeom prst="roundRect">
            <a:avLst>
              <a:gd name="adj" fmla="val 641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048000" y="1727200"/>
            <a:ext cx="330200" cy="3302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997200" y="2159000"/>
            <a:ext cx="177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模型可见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997200" y="2463800"/>
            <a:ext cx="17272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name + description 随请求发给模型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模型据此判断何时、如何调用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214580">
            <a:off x="4876998" y="26352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/>
          <p:nvPr/>
        </p:nvSpPr>
        <p:spPr>
          <a:xfrm>
            <a:off x="5105400" y="1549400"/>
            <a:ext cx="1981200" cy="2184400"/>
          </a:xfrm>
          <a:prstGeom prst="roundRect">
            <a:avLst>
              <a:gd name="adj" fmla="val 641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283200" y="1727200"/>
            <a:ext cx="330200" cy="3302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232400" y="2159000"/>
            <a:ext cx="177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参数校验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32400" y="2463800"/>
            <a:ext cx="17272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模型产出调用参数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95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AJV 按 schema 校验</a:t>
            </a:r>
            <a:endParaRPr lang="en-US" sz="950" b="0" i="0" u="none" strike="noStrike">
              <a:solidFill>
                <a:srgbClr val="FCD34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非法即拦下，错误回灌让模型自纠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-214580">
            <a:off x="7112198" y="26352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7340600" y="1549400"/>
            <a:ext cx="1981200" cy="2184400"/>
          </a:xfrm>
          <a:prstGeom prst="roundRect">
            <a:avLst>
              <a:gd name="adj" fmla="val 641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518400" y="1727200"/>
            <a:ext cx="330200" cy="3302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67600" y="2159000"/>
            <a:ext cx="177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467600" y="2463800"/>
            <a:ext cx="17272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execute(args, ctx)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95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多个工具可并行</a:t>
            </a:r>
            <a:endParaRPr lang="en-US" sz="950" b="0" i="0" u="none" strike="noStrike">
              <a:solidFill>
                <a:srgbClr val="FCD34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onUpdate 推流式进度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-214580">
            <a:off x="9347398" y="26352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8" name="AutoShape 28"/>
          <p:cNvSpPr/>
          <p:nvPr/>
        </p:nvSpPr>
        <p:spPr>
          <a:xfrm>
            <a:off x="9575800" y="1549400"/>
            <a:ext cx="1981200" cy="2184400"/>
          </a:xfrm>
          <a:prstGeom prst="roundRect">
            <a:avLst>
              <a:gd name="adj" fmla="val 6410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753600" y="1727200"/>
            <a:ext cx="330200" cy="3302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702800" y="2159000"/>
            <a:ext cx="177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双路返回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702800" y="2463800"/>
            <a:ext cx="17272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 回灌模型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95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details 给 UI / 日志</a:t>
            </a:r>
            <a:endParaRPr lang="en-US" sz="950" b="0" i="0" u="none" strike="noStrike">
              <a:solidFill>
                <a:srgbClr val="6EE7B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 tool_execution 事件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35000" y="3911600"/>
            <a:ext cx="5334000" cy="2108200"/>
          </a:xfrm>
          <a:prstGeom prst="roundRect">
            <a:avLst>
              <a:gd name="adj" fmla="val 6024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41148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219200" y="4102100"/>
            <a:ext cx="457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一次执行，两路结果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63600" y="4495800"/>
            <a:ext cx="4876800" cy="711200"/>
          </a:xfrm>
          <a:prstGeom prst="roundRect">
            <a:avLst>
              <a:gd name="adj" fmla="val 14285"/>
            </a:avLst>
          </a:prstGeom>
          <a:solidFill>
            <a:srgbClr val="3B82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1041400" y="4495800"/>
            <a:ext cx="4572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5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content</a:t>
            </a: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进消息历史、喂回模型：精炼、面向模型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63600" y="5283200"/>
            <a:ext cx="4876800" cy="711200"/>
          </a:xfrm>
          <a:prstGeom prst="roundRect">
            <a:avLst>
              <a:gd name="adj" fmla="val 14285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1041400" y="5283200"/>
            <a:ext cx="4572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details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给 UI / 日志、不占上下文：详尽、面向人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223000" y="3911600"/>
            <a:ext cx="5334000" cy="2108200"/>
          </a:xfrm>
          <a:prstGeom prst="roundRect">
            <a:avLst>
              <a:gd name="adj" fmla="val 6024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1600" y="4114800"/>
            <a:ext cx="254000" cy="2540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6807200" y="4102100"/>
            <a:ext cx="457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机制归属与边界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451600" y="4495800"/>
            <a:ext cx="48768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core 只定义工具机制；内置 read / bash / edit / write 与 grep / find / ls 由上层 coding-agent 提供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451600" y="5080000"/>
            <a:ext cx="48768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工具 = 给模型「新动作」，模型可见、主动调用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451600" y="5613400"/>
            <a:ext cx="48768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对比：Extension 在幕后改行为，模型无感（见第 5 章）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AGENT-CORE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476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上下文管理 · 模型每轮看到什么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762000"/>
            <a:ext cx="10922000" cy="355600"/>
          </a:xfrm>
          <a:prstGeom prst="roundRect">
            <a:avLst>
              <a:gd name="adj" fmla="val 28571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每轮开始前，core 把上下文拼成一份 messages 发给模型；窗口有限，太长就裁剪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3335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每轮发给模型的上下文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778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系统提示词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角色规则、工具说明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171155">
            <a:off x="1809750" y="2502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" y="26035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静态上下文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AGENTS.md、技能索引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171155">
            <a:off x="1809750" y="33276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" y="3429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历史消息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之前的对话和工具结果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171155">
            <a:off x="1809750" y="4153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35000" y="42545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BBF24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当前输入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你刚发的这条消息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683000" y="1333500"/>
            <a:ext cx="457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窗口有限，太长怎么办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1841500"/>
            <a:ext cx="4572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第一步：裁剪旧消息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历史太长时，砍掉最早的几轮，只留最近的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171155">
            <a:off x="5873750" y="26926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/>
          <p:nvPr/>
        </p:nvSpPr>
        <p:spPr>
          <a:xfrm>
            <a:off x="3683000" y="2794000"/>
            <a:ext cx="4572000" cy="762000"/>
          </a:xfrm>
          <a:prstGeom prst="roundRect">
            <a:avLst>
              <a:gd name="adj" fmla="val 13333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第二步：RAG 挑相关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从被砍掉的历史里，按当前问题检索相关片段塞回来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5171155">
            <a:off x="5873750" y="3645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3683000" y="3746500"/>
            <a:ext cx="4572000" cy="762000"/>
          </a:xfrm>
          <a:prstGeom prst="roundRect">
            <a:avLst>
              <a:gd name="adj" fmla="val 13333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BBF24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第三步：还是太长？压缩历史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把旧对话总结成一段摘要，代替原始消息（在 L3 触发）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763000" y="13335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关键结论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763000" y="1841500"/>
            <a:ext cx="2921000" cy="1016000"/>
          </a:xfrm>
          <a:prstGeom prst="roundRect">
            <a:avLst>
              <a:gd name="adj" fmla="val 750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76200" rIns="0" bIns="76200" rtlCol="0" anchor="t" anchorCtr="0"/>
          <a:lstStyle/>
          <a:p>
            <a:pPr marL="101600"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 = 模型一次能看到的全部文字。窗口有上限（如 128k token），超了就装不下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763000" y="2984500"/>
            <a:ext cx="2921000" cy="1016000"/>
          </a:xfrm>
          <a:prstGeom prst="roundRect">
            <a:avLst>
              <a:gd name="adj" fmla="val 750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76200" rIns="0" bIns="76200" rtlCol="0" anchor="t" anchorCtr="0"/>
          <a:lstStyle/>
          <a:p>
            <a:pPr marL="101600"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只负责组织和裁剪</a:t>
            </a:r>
            <a:endParaRPr lang="en-US" sz="1100"/>
          </a:p>
          <a:p>
            <a:pPr marL="101600" indent="0" algn="l">
              <a:lnSpc>
                <a:spcPct val="117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压缩、持久化、会话树是 L3 的事，core 不管</a:t>
            </a:r>
            <a:endParaRPr lang="en-US" sz="9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763000" y="4127500"/>
            <a:ext cx="2921000" cy="1016000"/>
          </a:xfrm>
          <a:prstGeom prst="roundRect">
            <a:avLst>
              <a:gd name="adj" fmla="val 7500"/>
            </a:avLst>
          </a:prstGeom>
          <a:solidFill>
            <a:srgbClr val="8B5C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76200" rIns="0" bIns="76200" rtlCol="0" anchor="t" anchorCtr="0"/>
          <a:lstStyle/>
          <a:p>
            <a:pPr marL="101600"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每轮都重新拼</a:t>
            </a:r>
            <a:endParaRPr lang="en-US" sz="1100"/>
          </a:p>
          <a:p>
            <a:pPr marL="101600" indent="0" algn="l">
              <a:lnSpc>
                <a:spcPct val="117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工具结果回灌后，下一轮重新组织上下文再发模型</a:t>
            </a:r>
            <a:endParaRPr lang="en-US" sz="9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" y="5461000"/>
            <a:ext cx="10922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上下文管理 = 每轮把「系统提示 + 静态规则 + 历史 + 当前输入」拼成一份 messages，太长就裁剪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AGENT-CORE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476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 · 全景树状图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3048000"/>
            <a:ext cx="2032000" cy="635000"/>
          </a:xfrm>
          <a:prstGeom prst="roundRect">
            <a:avLst>
              <a:gd name="adj" fmla="val 20000"/>
            </a:avLst>
          </a:prstGeom>
          <a:solidFill>
            <a:srgbClr val="3B82F6">
              <a:alpha val="30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pi-agent-core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运行时内核</a:t>
            </a:r>
            <a:endParaRPr lang="en-US" sz="900" b="0" i="0" u="none" strike="noStrike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802207">
            <a:off x="1538576" y="2311381"/>
            <a:ext cx="212985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" name="Connector 8"/>
          <p:cNvCxnSpPr/>
          <p:nvPr/>
        </p:nvCxnSpPr>
        <p:spPr>
          <a:xfrm rot="-3961508">
            <a:off x="2148928" y="2946360"/>
            <a:ext cx="90918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9"/>
          <p:cNvCxnSpPr/>
          <p:nvPr/>
        </p:nvCxnSpPr>
        <p:spPr>
          <a:xfrm rot="3315039">
            <a:off x="2260104" y="3644949"/>
            <a:ext cx="68685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0" name="Connector 10"/>
          <p:cNvCxnSpPr/>
          <p:nvPr/>
        </p:nvCxnSpPr>
        <p:spPr>
          <a:xfrm rot="4623413">
            <a:off x="1725343" y="4216422"/>
            <a:ext cx="175632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" name="Connector 11"/>
          <p:cNvCxnSpPr/>
          <p:nvPr/>
        </p:nvCxnSpPr>
        <p:spPr>
          <a:xfrm rot="4895988">
            <a:off x="1256464" y="4692665"/>
            <a:ext cx="269407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2794000" y="1041400"/>
            <a:ext cx="1905000" cy="457200"/>
          </a:xfrm>
          <a:prstGeom prst="roundRect">
            <a:avLst>
              <a:gd name="adj" fmla="val 16666"/>
            </a:avLst>
          </a:prstGeom>
          <a:solidFill>
            <a:srgbClr val="3B82F6">
              <a:alpha val="25000"/>
            </a:srgbClr>
          </a:solidFill>
          <a:ln w="12700" cap="flat" cmpd="sng">
            <a:solidFill>
              <a:srgbClr val="60A5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 · 初始配置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71744">
            <a:off x="4699159" y="1263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953000" y="11303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系统提示词（角色规则）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953000" y="14351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模型句柄（来自 pi-ai）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953000" y="17399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可用工具集 + 推理深度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794000" y="2311400"/>
            <a:ext cx="1905000" cy="457200"/>
          </a:xfrm>
          <a:prstGeom prst="roundRect">
            <a:avLst>
              <a:gd name="adj" fmla="val 16666"/>
            </a:avLst>
          </a:prstGeom>
          <a:solidFill>
            <a:srgbClr val="3B82F6">
              <a:alpha val="25000"/>
            </a:srgbClr>
          </a:solidFill>
          <a:ln w="12700" cap="flat" cmpd="sng">
            <a:solidFill>
              <a:srgbClr val="60A5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 · Agent 循环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71744">
            <a:off x="4699159" y="2533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953000" y="24003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组织上下文 → 发模型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953000" y="27051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模型流式返回回复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953000" y="30099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要工具？并行执行 → 回灌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794000" y="3708400"/>
            <a:ext cx="1905000" cy="457200"/>
          </a:xfrm>
          <a:prstGeom prst="roundRect">
            <a:avLst>
              <a:gd name="adj" fmla="val 16666"/>
            </a:avLst>
          </a:prstGeom>
          <a:solidFill>
            <a:srgbClr val="22D3EE">
              <a:alpha val="20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 · 过程通知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71744">
            <a:off x="4699159" y="3930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4953000" y="3530600"/>
            <a:ext cx="2159000" cy="304800"/>
          </a:xfrm>
          <a:prstGeom prst="roundRect">
            <a:avLst>
              <a:gd name="adj" fmla="val 16666"/>
            </a:avLst>
          </a:prstGeom>
          <a:solidFill>
            <a:srgbClr val="22D3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1" i="0" u="none" strike="noStrike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会话通知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对话开始/结束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953000" y="3860800"/>
            <a:ext cx="2159000" cy="304800"/>
          </a:xfrm>
          <a:prstGeom prst="roundRect">
            <a:avLst>
              <a:gd name="adj" fmla="val 16666"/>
            </a:avLst>
          </a:prstGeom>
          <a:solidFill>
            <a:srgbClr val="22D3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1" i="0" u="none" strike="noStrike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每轮通知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一轮开始/结束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953000" y="4191000"/>
            <a:ext cx="2159000" cy="304800"/>
          </a:xfrm>
          <a:prstGeom prst="roundRect">
            <a:avLst>
              <a:gd name="adj" fmla="val 16666"/>
            </a:avLst>
          </a:prstGeom>
          <a:solidFill>
            <a:srgbClr val="22D3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1" i="0" u="none" strike="noStrike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模型输出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文字逐字流出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953000" y="4521200"/>
            <a:ext cx="2159000" cy="304800"/>
          </a:xfrm>
          <a:prstGeom prst="roundRect">
            <a:avLst>
              <a:gd name="adj" fmla="val 16666"/>
            </a:avLst>
          </a:prstGeom>
          <a:solidFill>
            <a:srgbClr val="22D3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1" i="0" u="none" strike="noStrike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L4 工具通知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调用/结果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66000" y="3784600"/>
            <a:ext cx="2921000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为什么四级：会话包含多轮，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每轮含多条消息，每条消息可触发多工具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2794000" y="4851400"/>
            <a:ext cx="1905000" cy="457200"/>
          </a:xfrm>
          <a:prstGeom prst="roundRect">
            <a:avLst>
              <a:gd name="adj" fmla="val 16666"/>
            </a:avLst>
          </a:prstGeom>
          <a:solidFill>
            <a:srgbClr val="10B981">
              <a:alpha val="20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运行期热更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71744">
            <a:off x="4699159" y="5073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4953000" y="49403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切换模型/思考级别/提示词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953000" y="52451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下一轮安全点生效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2794000" y="5803900"/>
            <a:ext cx="1905000" cy="457200"/>
          </a:xfrm>
          <a:prstGeom prst="roundRect">
            <a:avLst>
              <a:gd name="adj" fmla="val 16666"/>
            </a:avLst>
          </a:prstGeom>
          <a:solidFill>
            <a:srgbClr val="8B5CF6">
              <a:alpha val="20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 · 产品无关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71744">
            <a:off x="4699159" y="6026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4953000" y="58928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不含：工具/持久化/压缩/技能/界面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953000" y="6197600"/>
            <a:ext cx="1968500" cy="279400"/>
          </a:xfrm>
          <a:prstGeom prst="roundRect">
            <a:avLst>
              <a:gd name="adj" fmla="val 18181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7620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可嵌入：任意模型+自定义工具=专属 Agent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2032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857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pi-coding-agent · 开箱即用的编码运行时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84200"/>
          </a:xfrm>
          <a:prstGeom prst="roundRect">
            <a:avLst>
              <a:gd name="adj" fmla="val 21739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最上层是可直接安装的产品：把 agent-core 装配成一个完整编码 Agent——内置工具、持久会话、压缩、技能、扩展与终端界面，全部接好线。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524000"/>
            <a:ext cx="7493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17018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19200" y="1689100"/>
            <a:ext cx="609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agent-core 之上装配的六大能力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082800"/>
            <a:ext cx="3454400" cy="812800"/>
          </a:xfrm>
          <a:prstGeom prst="roundRect">
            <a:avLst>
              <a:gd name="adj" fmla="val 14062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60600"/>
            <a:ext cx="228600" cy="228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2235200"/>
            <a:ext cx="279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内置工具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66800" y="2540000"/>
            <a:ext cx="30988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默认 read / bash / edit / write，可选 grep / find / ls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21200" y="2082800"/>
            <a:ext cx="3454400" cy="812800"/>
          </a:xfrm>
          <a:prstGeom prst="roundRect">
            <a:avLst>
              <a:gd name="adj" fmla="val 14062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2260600"/>
            <a:ext cx="228600" cy="228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029200" y="2235200"/>
            <a:ext cx="279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JSONL 树状会话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0" y="2540000"/>
            <a:ext cx="30988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每条 id + parentId，fork / clone / branch / tree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" y="2997200"/>
            <a:ext cx="3454400" cy="812800"/>
          </a:xfrm>
          <a:prstGeom prst="roundRect">
            <a:avLst>
              <a:gd name="adj" fmla="val 14062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800" y="3175000"/>
            <a:ext cx="228600" cy="228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3149600"/>
            <a:ext cx="279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 compaction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" y="3454400"/>
            <a:ext cx="30988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逼近窗口自动总结长历史，崩溃最多丢一行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21200" y="2997200"/>
            <a:ext cx="3454400" cy="812800"/>
          </a:xfrm>
          <a:prstGeom prst="roundRect">
            <a:avLst>
              <a:gd name="adj" fmla="val 14062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175000"/>
            <a:ext cx="228600" cy="228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029200" y="3149600"/>
            <a:ext cx="279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 渐进披露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699000" y="3454400"/>
            <a:ext cx="30988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只加载索引，按需读全文，不撑爆 prompt cache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" y="3911600"/>
            <a:ext cx="3454400" cy="812800"/>
          </a:xfrm>
          <a:prstGeom prst="roundRect">
            <a:avLst>
              <a:gd name="adj" fmla="val 14062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6800" y="4089400"/>
            <a:ext cx="228600" cy="228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397000" y="4064000"/>
            <a:ext cx="279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Extensions / Hooks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66800" y="4368800"/>
            <a:ext cx="30988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20+ 生命周期事件，幕后拦截 / 改写 / 注入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521200" y="3911600"/>
            <a:ext cx="3454400" cy="812800"/>
          </a:xfrm>
          <a:prstGeom prst="roundRect">
            <a:avLst>
              <a:gd name="adj" fmla="val 14062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4089400"/>
            <a:ext cx="228600" cy="228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5029200" y="4064000"/>
            <a:ext cx="279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资源发现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699000" y="4368800"/>
            <a:ext cx="30988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启动加载 AGENTS.md / SYSTEM.md 项目指令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382000" y="1524000"/>
            <a:ext cx="3175000" cy="1574800"/>
          </a:xfrm>
          <a:prstGeom prst="roundRect">
            <a:avLst>
              <a:gd name="adj" fmla="val 8064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10600" y="17018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966200" y="1689100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pi-tui 终端界面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610600" y="2057400"/>
            <a:ext cx="2768600" cy="812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差分渲染，流式不闪屏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Markdown 渲染、多行编辑器</a:t>
            </a:r>
            <a:endParaRPr lang="en-US" sz="10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/model、/tree、斜杠命令</a:t>
            </a:r>
            <a:endParaRPr lang="en-US" sz="10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8382000" y="3200400"/>
            <a:ext cx="3175000" cy="1625600"/>
          </a:xfrm>
          <a:prstGeom prst="roundRect">
            <a:avLst>
              <a:gd name="adj" fmla="val 781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10600" y="3378200"/>
            <a:ext cx="254000" cy="2540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8966200" y="3365500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同一内核，四种形态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610600" y="3733800"/>
            <a:ext cx="2768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Interactive TUI · Print / JSON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RPC（stdin/stdout）· SDK 嵌入</a:t>
            </a:r>
            <a:endParaRPr lang="en-US" sz="10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交互、脚本、集成共用一个运行时</a:t>
            </a:r>
            <a:endParaRPr lang="en-US" sz="1000" b="0" i="0" u="none" strike="noStrike">
              <a:solidFill>
                <a:srgbClr val="C4B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635000" y="4978400"/>
            <a:ext cx="5461000" cy="1117600"/>
          </a:xfrm>
          <a:prstGeom prst="roundRect">
            <a:avLst>
              <a:gd name="adj" fmla="val 11363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3600" y="5181600"/>
            <a:ext cx="279400" cy="2794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1244600" y="5156200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极薄系统提示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63600" y="5486400"/>
            <a:ext cx="2286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~1k</a:t>
            </a: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token · Pi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3175000" y="5486400"/>
            <a:ext cx="2540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~14k</a:t>
            </a: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token · 典型 CLI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63600" y="5867400"/>
            <a:ext cx="50292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少堆规则、把智能留给模型；约为典型编码 CLI 的 1/14（数量级参考）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096000" y="4978400"/>
            <a:ext cx="5461000" cy="1117600"/>
          </a:xfrm>
          <a:prstGeom prst="roundRect">
            <a:avLst>
              <a:gd name="adj" fmla="val 11363"/>
            </a:avLst>
          </a:prstGeom>
          <a:solidFill>
            <a:srgbClr val="020617">
              <a:alpha val="7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24600" y="5181600"/>
            <a:ext cx="254000" cy="254000"/>
          </a:xfrm>
          <a:prstGeom prst="rect">
            <a:avLst/>
          </a:prstGeom>
        </p:spPr>
      </p:pic>
      <p:sp>
        <p:nvSpPr>
          <p:cNvPr id="51" name="AutoShape 51"/>
          <p:cNvSpPr/>
          <p:nvPr/>
        </p:nvSpPr>
        <p:spPr>
          <a:xfrm>
            <a:off x="6680200" y="5156200"/>
            <a:ext cx="457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安装与运行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MIT · TypeScript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6324600" y="5486400"/>
            <a:ext cx="50292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E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npm i -g @mariozechner/pi-coding-agent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6324600" y="5791200"/>
            <a:ext cx="50292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启动 TUI　·　</a:t>
            </a:r>
            <a:r>
              <a:rPr lang="en-US" sz="11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 -p</a:t>
            </a: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一次性问答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2032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857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怎么实现 · 装配流程与会话树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84200"/>
          </a:xfrm>
          <a:prstGeom prst="roundRect">
            <a:avLst>
              <a:gd name="adj" fmla="val 21739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启动时把资源发现、工具、模型装配成一次 AgentSession；运行中每条消息追加进 JSONL，靠 id / parentId 长成可分叉的会话树。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524000"/>
            <a:ext cx="5334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17018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19200" y="1689100"/>
            <a:ext cx="381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启动即装配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0828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41400" y="2222500"/>
            <a:ext cx="330200" cy="3302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98600" y="2082800"/>
            <a:ext cx="4064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设置与信任检查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project_trust、API Key / OAuth、模型与思考级别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4972499">
            <a:off x="3251200" y="2762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5" name="AutoShape 15"/>
          <p:cNvSpPr/>
          <p:nvPr/>
        </p:nvSpPr>
        <p:spPr>
          <a:xfrm>
            <a:off x="889000" y="28448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41400" y="2984500"/>
            <a:ext cx="330200" cy="3302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498600" y="2844800"/>
            <a:ext cx="4064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资源发现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 / SYSTEM.md / skills / extensions / 命令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4972499">
            <a:off x="3251200" y="3524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889000" y="36068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41400" y="3746500"/>
            <a:ext cx="330200" cy="3302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498600" y="3606800"/>
            <a:ext cx="4064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构造工具集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codingTools + readOnlyTools + 自定义工具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4972499">
            <a:off x="3251200" y="4286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889000" y="43688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8B5CF6">
              <a:alpha val="16000"/>
            </a:srgbClr>
          </a:solidFill>
          <a:ln w="12700" cap="flat" cmpd="sng">
            <a:solidFill>
              <a:srgbClr val="8B5C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41400" y="4508500"/>
            <a:ext cx="330200" cy="3302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498600" y="4368800"/>
            <a:ext cx="4064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createAgentSession(initialState)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95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systemPrompt / model / tools / streamFn 交给 core</a:t>
            </a:r>
            <a:endParaRPr lang="en-US" sz="950" b="0" i="0" u="none" strike="noStrike">
              <a:solidFill>
                <a:srgbClr val="C4B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6" name="Connector 26"/>
          <p:cNvCxnSpPr/>
          <p:nvPr/>
        </p:nvCxnSpPr>
        <p:spPr>
          <a:xfrm rot="4972499">
            <a:off x="3251200" y="5048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7" name="AutoShape 27"/>
          <p:cNvSpPr/>
          <p:nvPr/>
        </p:nvSpPr>
        <p:spPr>
          <a:xfrm>
            <a:off x="889000" y="5130800"/>
            <a:ext cx="4826000" cy="609600"/>
          </a:xfrm>
          <a:prstGeom prst="roundRect">
            <a:avLst>
              <a:gd name="adj" fmla="val 16666"/>
            </a:avLst>
          </a:prstGeom>
          <a:solidFill>
            <a:srgbClr val="10B981">
              <a:alpha val="14000"/>
            </a:srgbClr>
          </a:solidFill>
          <a:ln w="12700" cap="flat" cmpd="sng">
            <a:solidFill>
              <a:srgbClr val="10B981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41400" y="5270500"/>
            <a:ext cx="330200" cy="3302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498600" y="5130800"/>
            <a:ext cx="4064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选择形态运行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95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TUI · Print / JSON · RPC · SDK，同一运行时</a:t>
            </a:r>
            <a:endParaRPr lang="en-US" sz="950" b="0" i="0" u="none" strike="noStrike">
              <a:solidFill>
                <a:srgbClr val="6EE7B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223000" y="1524000"/>
            <a:ext cx="5334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1600" y="17018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807200" y="1689100"/>
            <a:ext cx="4318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JSONL 树状会话（id + parentId）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40500" y="2184400"/>
            <a:ext cx="762000" cy="330200"/>
          </a:xfrm>
          <a:prstGeom prst="roundRect">
            <a:avLst>
              <a:gd name="adj" fmla="val 2692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u1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556500" y="2184400"/>
            <a:ext cx="762000" cy="330200"/>
          </a:xfrm>
          <a:prstGeom prst="roundRect">
            <a:avLst>
              <a:gd name="adj" fmla="val 26923"/>
            </a:avLst>
          </a:prstGeom>
          <a:solidFill>
            <a:srgbClr val="8B5CF6">
              <a:alpha val="30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a1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572500" y="2184400"/>
            <a:ext cx="762000" cy="330200"/>
          </a:xfrm>
          <a:prstGeom prst="roundRect">
            <a:avLst>
              <a:gd name="adj" fmla="val 2692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u2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588500" y="2184400"/>
            <a:ext cx="762000" cy="330200"/>
          </a:xfrm>
          <a:prstGeom prst="roundRect">
            <a:avLst>
              <a:gd name="adj" fmla="val 26923"/>
            </a:avLst>
          </a:prstGeom>
          <a:solidFill>
            <a:srgbClr val="8B5CF6">
              <a:alpha val="30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a2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214580">
            <a:off x="7328098" y="23431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8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8" name="Connector 38"/>
          <p:cNvCxnSpPr/>
          <p:nvPr/>
        </p:nvCxnSpPr>
        <p:spPr>
          <a:xfrm rot="-214580">
            <a:off x="8344098" y="23431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8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9" name="Connector 39"/>
          <p:cNvCxnSpPr/>
          <p:nvPr/>
        </p:nvCxnSpPr>
        <p:spPr>
          <a:xfrm rot="-214580">
            <a:off x="9360098" y="23431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8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40" name="AutoShape 40"/>
          <p:cNvSpPr/>
          <p:nvPr/>
        </p:nvSpPr>
        <p:spPr>
          <a:xfrm>
            <a:off x="6540500" y="1930400"/>
            <a:ext cx="1143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 分支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5304531">
            <a:off x="8724900" y="2762338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9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42" name="AutoShape 42"/>
          <p:cNvSpPr/>
          <p:nvPr/>
        </p:nvSpPr>
        <p:spPr>
          <a:xfrm>
            <a:off x="8572500" y="3022600"/>
            <a:ext cx="762000" cy="330200"/>
          </a:xfrm>
          <a:prstGeom prst="roundRect">
            <a:avLst>
              <a:gd name="adj" fmla="val 2692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A78BFA">
                <a:alpha val="7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u2′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588500" y="3022600"/>
            <a:ext cx="762000" cy="330200"/>
          </a:xfrm>
          <a:prstGeom prst="roundRect">
            <a:avLst>
              <a:gd name="adj" fmla="val 26923"/>
            </a:avLst>
          </a:prstGeom>
          <a:solidFill>
            <a:srgbClr val="8B5CF6">
              <a:alpha val="30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a2′</a:t>
            </a:r>
            <a:endParaRPr lang="en-US" sz="1100"/>
          </a:p>
        </p:txBody>
      </p:sp>
      <p:cxnSp>
        <p:nvCxnSpPr>
          <p:cNvPr id="44" name="Connector 44"/>
          <p:cNvCxnSpPr/>
          <p:nvPr/>
        </p:nvCxnSpPr>
        <p:spPr>
          <a:xfrm rot="-214580">
            <a:off x="9360098" y="31813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9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45" name="AutoShape 45"/>
          <p:cNvSpPr/>
          <p:nvPr/>
        </p:nvSpPr>
        <p:spPr>
          <a:xfrm>
            <a:off x="6985000" y="3086100"/>
            <a:ext cx="1524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fork 新分支 →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451600" y="3581400"/>
            <a:ext cx="4876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 = 用户消息、a = 模型消息；同一 parent 可长出多条分支，随时回到任意节点重走。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223000" y="4699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1600" y="4876800"/>
            <a:ext cx="254000" cy="254000"/>
          </a:xfrm>
          <a:prstGeom prst="rect">
            <a:avLst/>
          </a:prstGeom>
        </p:spPr>
      </p:pic>
      <p:sp>
        <p:nvSpPr>
          <p:cNvPr id="49" name="AutoShape 49"/>
          <p:cNvSpPr/>
          <p:nvPr/>
        </p:nvSpPr>
        <p:spPr>
          <a:xfrm>
            <a:off x="6807200" y="4864100"/>
            <a:ext cx="4318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只追加，故可恢复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6451600" y="5207000"/>
            <a:ext cx="48768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每条消息追加写一行 JSONL，崩溃 / 断电最多丢最后一行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/tree 查看、/fork /clone /branch 建分支回溯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/export 导出 HTML、/share 发布 gist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6670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会话记忆 · 对话怎么存、怎么恢复、太长怎么压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762000"/>
            <a:ext cx="10922000" cy="355600"/>
          </a:xfrm>
          <a:prstGeom prst="roundRect">
            <a:avLst>
              <a:gd name="adj" fmla="val 28571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A78BFA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每条消息一行 JSON 追加写盘，靠 id/parentId 连成树；超窗口自动压缩，关掉重开接着聊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270000"/>
            <a:ext cx="3175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JSONL 一行一条消息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651000"/>
            <a:ext cx="3175000" cy="609600"/>
          </a:xfrm>
          <a:prstGeom prst="roundRect">
            <a:avLst>
              <a:gd name="adj" fmla="val 12500"/>
            </a:avLst>
          </a:prstGeom>
          <a:solidFill>
            <a:srgbClr val="F59E0B">
              <a:alpha val="12000"/>
            </a:srgbClr>
          </a:solidFill>
          <a:ln w="12700" cap="flat" cmpd="sng">
            <a:solidFill>
              <a:srgbClr val="FBBF24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m1 parentId=null 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</a:t>
            </a:r>
            <a:endParaRPr lang="en-US" sz="1100"/>
          </a:p>
          <a:p>
            <a:pPr marL="1016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帮我重构排序函数</a:t>
            </a:r>
            <a:endParaRPr lang="en-US" sz="900" b="0" i="0" u="none" strike="noStrike">
              <a:solidFill>
                <a:srgbClr val="FCD34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4972499">
            <a:off x="2171700" y="23054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" y="2362200"/>
            <a:ext cx="3175000" cy="609600"/>
          </a:xfrm>
          <a:prstGeom prst="roundRect">
            <a:avLst>
              <a:gd name="adj" fmla="val 12500"/>
            </a:avLst>
          </a:prstGeom>
          <a:solidFill>
            <a:srgbClr val="3B82F6">
              <a:alpha val="12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parentId=m1 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assistant</a:t>
            </a:r>
            <a:endParaRPr lang="en-US" sz="1100"/>
          </a:p>
          <a:p>
            <a:pPr marL="1016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好，先读一下 utils.ts</a:t>
            </a:r>
            <a:endParaRPr lang="en-US" sz="900" b="0" i="0" u="none" strike="noStrike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4972499">
            <a:off x="2171700" y="3016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" y="3073400"/>
            <a:ext cx="3175000" cy="609600"/>
          </a:xfrm>
          <a:prstGeom prst="roundRect">
            <a:avLst>
              <a:gd name="adj" fmla="val 12500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m3 parentId=m2 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</a:t>
            </a:r>
            <a:endParaRPr lang="en-US" sz="1100"/>
          </a:p>
          <a:p>
            <a:pPr marL="1016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read 返回文件内容...</a:t>
            </a:r>
            <a:endParaRPr lang="en-US" sz="900" b="0" i="0" u="none" strike="noStrike">
              <a:solidFill>
                <a:srgbClr val="86EFA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4972499">
            <a:off x="2171700" y="37278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35000" y="3784600"/>
            <a:ext cx="3175000" cy="609600"/>
          </a:xfrm>
          <a:prstGeom prst="roundRect">
            <a:avLst>
              <a:gd name="adj" fmla="val 12500"/>
            </a:avLst>
          </a:prstGeom>
          <a:solidFill>
            <a:srgbClr val="3B82F6">
              <a:alpha val="12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m4 parentId=m3 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assistant</a:t>
            </a:r>
            <a:endParaRPr lang="en-US" sz="1100"/>
          </a:p>
          <a:p>
            <a:pPr marL="1016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重构完成，跑下测试</a:t>
            </a:r>
            <a:endParaRPr lang="en-US" sz="900" b="0" i="0" u="none" strike="noStrike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" y="4572000"/>
            <a:ext cx="3175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用户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8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模型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8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工具结果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127500" y="1270000"/>
            <a:ext cx="3429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会话树 · 可分叉回溯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461000" y="1676400"/>
            <a:ext cx="1143000" cy="355600"/>
          </a:xfrm>
          <a:prstGeom prst="roundRect">
            <a:avLst>
              <a:gd name="adj" fmla="val 21428"/>
            </a:avLst>
          </a:prstGeom>
          <a:solidFill>
            <a:srgbClr val="F59E0B">
              <a:alpha val="20000"/>
            </a:srgbClr>
          </a:solidFill>
          <a:ln w="12700" cap="flat" cmpd="sng">
            <a:solidFill>
              <a:srgbClr val="FBBF24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m1 根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171155">
            <a:off x="5937250" y="2121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5461000" y="2222500"/>
            <a:ext cx="1143000" cy="330200"/>
          </a:xfrm>
          <a:prstGeom prst="roundRect">
            <a:avLst>
              <a:gd name="adj" fmla="val 23076"/>
            </a:avLst>
          </a:prstGeom>
          <a:solidFill>
            <a:srgbClr val="3B82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模型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136077">
            <a:off x="5949950" y="2629144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461000" y="2717800"/>
            <a:ext cx="1143000" cy="330200"/>
          </a:xfrm>
          <a:prstGeom prst="roundRect">
            <a:avLst>
              <a:gd name="adj" fmla="val 23076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m3 工具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154862">
            <a:off x="5943600" y="31307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5397500" y="3225800"/>
            <a:ext cx="1270000" cy="381000"/>
          </a:xfrm>
          <a:prstGeom prst="roundRect">
            <a:avLst>
              <a:gd name="adj" fmla="val 20000"/>
            </a:avLst>
          </a:prstGeom>
          <a:solidFill>
            <a:srgbClr val="F59E0B">
              <a:alpha val="25000"/>
            </a:srgbClr>
          </a:solidFill>
          <a:ln w="25400" cap="flat" cmpd="sng">
            <a:solidFill>
              <a:srgbClr val="FBBF24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m4 /fork 分叉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9675409">
            <a:off x="4868449" y="3733814"/>
            <a:ext cx="86751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" name="Connector 25"/>
          <p:cNvCxnSpPr/>
          <p:nvPr/>
        </p:nvCxnSpPr>
        <p:spPr>
          <a:xfrm rot="1023943">
            <a:off x="6329038" y="3733814"/>
            <a:ext cx="86751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6" name="AutoShape 26"/>
          <p:cNvSpPr/>
          <p:nvPr/>
        </p:nvSpPr>
        <p:spPr>
          <a:xfrm>
            <a:off x="4381500" y="3873500"/>
            <a:ext cx="1079500" cy="355600"/>
          </a:xfrm>
          <a:prstGeom prst="roundRect">
            <a:avLst>
              <a:gd name="adj" fmla="val 21428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m5 路线A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67500" y="3873500"/>
            <a:ext cx="1079500" cy="355600"/>
          </a:xfrm>
          <a:prstGeom prst="roundRect">
            <a:avLst>
              <a:gd name="adj" fmla="val 21428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m6 路线B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143500" y="4381500"/>
            <a:ext cx="1778000" cy="2794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原路线不丢，可切回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01000" y="1270000"/>
            <a:ext cx="3175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记忆做的三件事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01000" y="1651000"/>
            <a:ext cx="3556000" cy="965200"/>
          </a:xfrm>
          <a:prstGeom prst="roundRect">
            <a:avLst>
              <a:gd name="adj" fmla="val 7894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60A5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落盘持久化</a:t>
            </a:r>
            <a:endParaRPr lang="en-US" sz="1100"/>
          </a:p>
          <a:p>
            <a:pPr marL="101600" indent="0" algn="l">
              <a:lnSpc>
                <a:spcPct val="108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每条消息一行 JSON 追加写，不覆盖；关掉重开自动加载接着聊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001000" y="2717800"/>
            <a:ext cx="3556000" cy="965200"/>
          </a:xfrm>
          <a:prstGeom prst="roundRect">
            <a:avLst>
              <a:gd name="adj" fmla="val 7894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BBF24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分叉回溯</a:t>
            </a:r>
            <a:endParaRPr lang="en-US" sz="1100"/>
          </a:p>
          <a:p>
            <a:pPr marL="101600" indent="0" algn="l">
              <a:lnSpc>
                <a:spcPct val="108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/tree 看树 /fork 分叉 /switch 切分支；走错了从任意节点重来，原路线不丢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001000" y="3784600"/>
            <a:ext cx="3556000" cy="965200"/>
          </a:xfrm>
          <a:prstGeom prst="roundRect">
            <a:avLst>
              <a:gd name="adj" fmla="val 7894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超长压缩</a:t>
            </a:r>
            <a:endParaRPr lang="en-US" sz="1100"/>
          </a:p>
          <a:p>
            <a:pPr marL="101600" indent="0" algn="l">
              <a:lnSpc>
                <a:spcPct val="108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上下文快满时自动把旧对话总结成摘要，代替原始消息，保住关键信息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35000" y="5461000"/>
            <a:ext cx="10922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负责存和压：JSONL 落盘 + 会话树分叉 + 超长压缩　|　L2 负责每轮把历史从 JSONL 读出来拼进 messages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730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六种扩展机制 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84200"/>
          </a:xfrm>
          <a:prstGeom prst="roundRect">
            <a:avLst>
              <a:gd name="adj" fmla="val 21739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把扩展收敛成六种</a:t>
            </a:r>
            <a:r>
              <a:rPr lang="zh-CN" alt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原语</a:t>
            </a:r>
            <a:r>
              <a:rPr 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：有的写给模型看、有的在幕后改行为；有的写 Markdown、有的用 TypeScript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524000"/>
            <a:ext cx="3505200" cy="1600200"/>
          </a:xfrm>
          <a:prstGeom prst="roundRect">
            <a:avLst>
              <a:gd name="adj" fmla="val 793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7272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19200" y="17145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 / SYSTEM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81400" y="1739900"/>
            <a:ext cx="381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8200" y="2108200"/>
            <a:ext cx="30988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项目指令与系统提示：启动加载、始终在上下文，给模型立规矩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8200" y="2743200"/>
            <a:ext cx="1219200" cy="254000"/>
          </a:xfrm>
          <a:prstGeom prst="roundRect">
            <a:avLst>
              <a:gd name="adj" fmla="val 50000"/>
            </a:avLst>
          </a:prstGeom>
          <a:solidFill>
            <a:srgbClr val="3B82F6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模型可见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33600" y="2743200"/>
            <a:ext cx="1524000" cy="254000"/>
          </a:xfrm>
          <a:prstGeom prst="roundRect">
            <a:avLst>
              <a:gd name="adj" fmla="val 50000"/>
            </a:avLst>
          </a:prstGeom>
          <a:solidFill>
            <a:srgbClr val="10B981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零代码 · Markdown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43400" y="1524000"/>
            <a:ext cx="3505200" cy="1600200"/>
          </a:xfrm>
          <a:prstGeom prst="roundRect">
            <a:avLst>
              <a:gd name="adj" fmla="val 793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6600" y="17272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927600" y="17145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 模板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89800" y="1739900"/>
            <a:ext cx="381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46600" y="2108200"/>
            <a:ext cx="30988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prompts/*.md 斜杠命令，/name 手动展开、可带参数，复用常用话术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46600" y="2743200"/>
            <a:ext cx="1219200" cy="254000"/>
          </a:xfrm>
          <a:prstGeom prst="roundRect">
            <a:avLst>
              <a:gd name="adj" fmla="val 50000"/>
            </a:avLst>
          </a:prstGeom>
          <a:solidFill>
            <a:srgbClr val="3B82F6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模型可见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842000" y="2743200"/>
            <a:ext cx="1524000" cy="254000"/>
          </a:xfrm>
          <a:prstGeom prst="roundRect">
            <a:avLst>
              <a:gd name="adj" fmla="val 50000"/>
            </a:avLst>
          </a:prstGeom>
          <a:solidFill>
            <a:srgbClr val="10B981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零代码 · Markdown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51800" y="1524000"/>
            <a:ext cx="3505200" cy="1600200"/>
          </a:xfrm>
          <a:prstGeom prst="roundRect">
            <a:avLst>
              <a:gd name="adj" fmla="val 7936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7272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636000" y="17145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 能力包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998200" y="1739900"/>
            <a:ext cx="381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55000" y="2108200"/>
            <a:ext cx="30988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 Agent Skills 标准：只载索引，任务匹配时模型按需读全文、跑脚本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2743200"/>
            <a:ext cx="1219200" cy="254000"/>
          </a:xfrm>
          <a:prstGeom prst="roundRect">
            <a:avLst>
              <a:gd name="adj" fmla="val 50000"/>
            </a:avLst>
          </a:prstGeom>
          <a:solidFill>
            <a:srgbClr val="3B82F6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模型可见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550400" y="2743200"/>
            <a:ext cx="1651000" cy="254000"/>
          </a:xfrm>
          <a:prstGeom prst="roundRect">
            <a:avLst>
              <a:gd name="adj" fmla="val 50000"/>
            </a:avLst>
          </a:prstGeom>
          <a:solidFill>
            <a:srgbClr val="10B981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MD + 脚本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" y="3327400"/>
            <a:ext cx="3505200" cy="1600200"/>
          </a:xfrm>
          <a:prstGeom prst="roundRect">
            <a:avLst>
              <a:gd name="adj" fmla="val 793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" y="3530600"/>
            <a:ext cx="279400" cy="279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219200" y="35179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Custom Tools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581400" y="3543300"/>
            <a:ext cx="381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38200" y="3911600"/>
            <a:ext cx="30988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TS 定义 name / 参数 schema / execute，给模型一个它原本没有的新动作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38200" y="4546600"/>
            <a:ext cx="1219200" cy="254000"/>
          </a:xfrm>
          <a:prstGeom prst="roundRect">
            <a:avLst>
              <a:gd name="adj" fmla="val 50000"/>
            </a:avLst>
          </a:prstGeom>
          <a:solidFill>
            <a:srgbClr val="3B82F6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模型可见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2133600" y="4546600"/>
            <a:ext cx="1524000" cy="254000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TypeScript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343400" y="3327400"/>
            <a:ext cx="3505200" cy="1600200"/>
          </a:xfrm>
          <a:prstGeom prst="roundRect">
            <a:avLst>
              <a:gd name="adj" fmla="val 7936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46600" y="3530600"/>
            <a:ext cx="279400" cy="2794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4927600" y="3517900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Extensions / Hooks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289800" y="3543300"/>
            <a:ext cx="381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546600" y="3911600"/>
            <a:ext cx="30988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TS 模块订阅 20+ 生命周期事件，在幕后拦截 / 改写 / 注入，模型无感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4546600" y="4546600"/>
            <a:ext cx="1397000" cy="254000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D8C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幕后 · 模型无感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045200" y="4546600"/>
            <a:ext cx="1270000" cy="254000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TypeScript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051800" y="3327400"/>
            <a:ext cx="3505200" cy="1600200"/>
          </a:xfrm>
          <a:prstGeom prst="roundRect">
            <a:avLst>
              <a:gd name="adj" fmla="val 793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55000" y="3530600"/>
            <a:ext cx="279400" cy="2794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8636000" y="35179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Themes 主题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10998200" y="3543300"/>
            <a:ext cx="381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255000" y="3911600"/>
            <a:ext cx="30988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定制终端配色与外观，纯视觉，不进入模型的推理过程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255000" y="4546600"/>
            <a:ext cx="1397000" cy="254000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D8C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幕后 · 模型无感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9753600" y="4546600"/>
            <a:ext cx="1524000" cy="254000"/>
          </a:xfrm>
          <a:prstGeom prst="roundRect">
            <a:avLst>
              <a:gd name="adj" fmla="val 50000"/>
            </a:avLst>
          </a:prstGeom>
          <a:solidFill>
            <a:srgbClr val="10B981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零代码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635000" y="5080000"/>
            <a:ext cx="5334000" cy="584200"/>
          </a:xfrm>
          <a:prstGeom prst="roundRect">
            <a:avLst>
              <a:gd name="adj" fmla="val 19565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51"/>
          <p:cNvSpPr/>
          <p:nvPr/>
        </p:nvSpPr>
        <p:spPr>
          <a:xfrm>
            <a:off x="812800" y="5080000"/>
            <a:ext cx="49784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区分一 · 对模型是否可见：</a:t>
            </a: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指令 / 模板 / Skills / 工具让模型「会做」；Extension 改变 agent「如何行事」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6223000" y="5080000"/>
            <a:ext cx="5334000" cy="584200"/>
          </a:xfrm>
          <a:prstGeom prst="roundRect">
            <a:avLst>
              <a:gd name="adj" fmla="val 19565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53"/>
          <p:cNvSpPr/>
          <p:nvPr/>
        </p:nvSpPr>
        <p:spPr>
          <a:xfrm>
            <a:off x="6400800" y="5080000"/>
            <a:ext cx="49784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区分二 · 是否写代码：</a:t>
            </a: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 / Prompt / Skills 写 Markdown 即用；工具与 Extension 用 TS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635000" y="5765800"/>
            <a:ext cx="10922000" cy="330200"/>
          </a:xfrm>
          <a:prstGeom prst="roundRect">
            <a:avLst>
              <a:gd name="adj" fmla="val 30769"/>
            </a:avLst>
          </a:prstGeom>
          <a:solidFill>
            <a:srgbClr val="8B5CF6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/>
        </p:nvSpPr>
        <p:spPr>
          <a:xfrm>
            <a:off x="838200" y="5765800"/>
            <a:ext cx="10515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D8C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分发载体：Pi Package 可把以上任意机制打包，经 npm / git 一键安装（pi install npm:… / git:…）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730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选型决策树 · 什么时候用什么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08000"/>
          </a:xfrm>
          <a:prstGeom prst="roundRect">
            <a:avLst>
              <a:gd name="adj" fmla="val 25000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从「模型是否需要感知」这一个问题切入，沿问题向下，就能落到唯一推荐的机制。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99000" y="1422400"/>
            <a:ext cx="2794000" cy="482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>
                  <a:alpha val="40000"/>
                </a:srgbClr>
              </a:gs>
              <a:gs pos="100000">
                <a:srgbClr val="6366F1">
                  <a:alpha val="35000"/>
                </a:srgbClr>
              </a:gs>
            </a:gsLst>
            <a:lin ang="2700000"/>
          </a:gradFill>
          <a:ln w="12700" cap="flat" cmpd="sng">
            <a:solidFill>
              <a:srgbClr val="A78BFA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99000" y="1422400"/>
            <a:ext cx="2794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我想扩展 Pi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114181">
            <a:off x="6019800" y="20005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4572000" y="2108200"/>
            <a:ext cx="3048000" cy="711200"/>
          </a:xfrm>
          <a:prstGeom prst="diamond">
            <a:avLst/>
          </a:prstGeom>
          <a:solidFill>
            <a:srgbClr val="F59E0B">
              <a:alpha val="16000"/>
            </a:srgbClr>
          </a:solidFill>
          <a:ln w="12700" cap="flat" cmpd="sng">
            <a:solidFill>
              <a:srgbClr val="F59E0B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需要模型感知 /</a:t>
            </a:r>
            <a:endParaRPr lang="en-US" sz="1100"/>
          </a:p>
          <a:p>
            <a:pPr marL="0" indent="0" algn="ctr">
              <a:lnSpc>
                <a:spcPct val="104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模型主动使用吗？</a:t>
            </a:r>
            <a:endParaRPr lang="en-US" sz="11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9739588">
            <a:off x="3142368" y="2673358"/>
            <a:ext cx="146221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3" name="Connector 13"/>
          <p:cNvCxnSpPr/>
          <p:nvPr/>
        </p:nvCxnSpPr>
        <p:spPr>
          <a:xfrm rot="1000696">
            <a:off x="7587421" y="2673358"/>
            <a:ext cx="146221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3124200" y="2311400"/>
            <a:ext cx="1397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否 · 幕后改行为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0" y="2311400"/>
            <a:ext cx="1524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 · 给模型能力 / 知识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" y="2895600"/>
            <a:ext cx="5080000" cy="355600"/>
          </a:xfrm>
          <a:prstGeom prst="roundRect">
            <a:avLst>
              <a:gd name="adj" fmla="val 32142"/>
            </a:avLst>
          </a:prstGeom>
          <a:solidFill>
            <a:srgbClr val="8B5CF6">
              <a:alpha val="2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" y="2895600"/>
            <a:ext cx="508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幕后 · 模型无感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895600"/>
            <a:ext cx="5080000" cy="355600"/>
          </a:xfrm>
          <a:prstGeom prst="roundRect">
            <a:avLst>
              <a:gd name="adj" fmla="val 32142"/>
            </a:avLst>
          </a:prstGeom>
          <a:solidFill>
            <a:srgbClr val="3B82F6">
              <a:alpha val="2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2895600"/>
            <a:ext cx="508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给模型能力或知识 · 模型可见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51000" y="3378200"/>
            <a:ext cx="3048000" cy="584200"/>
          </a:xfrm>
          <a:prstGeom prst="diamond">
            <a:avLst/>
          </a:prstGeom>
          <a:solidFill>
            <a:srgbClr val="FFFFFF">
              <a:alpha val="6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只是改外观吗？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9412133">
            <a:off x="1885365" y="4057677"/>
            <a:ext cx="54713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2" name="Connector 22"/>
          <p:cNvCxnSpPr/>
          <p:nvPr/>
        </p:nvCxnSpPr>
        <p:spPr>
          <a:xfrm rot="1228302">
            <a:off x="3917502" y="4057677"/>
            <a:ext cx="54713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1524000" y="3987800"/>
            <a:ext cx="508000" cy="177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191000" y="3987800"/>
            <a:ext cx="508000" cy="177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否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4191000"/>
            <a:ext cx="2286000" cy="939800"/>
          </a:xfrm>
          <a:prstGeom prst="roundRect">
            <a:avLst>
              <a:gd name="adj" fmla="val 12162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9800" y="4343400"/>
            <a:ext cx="228600" cy="228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244600" y="4330700"/>
            <a:ext cx="1778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Themes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39800" y="4648200"/>
            <a:ext cx="1955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配色、字体、终端外观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302000" y="4191000"/>
            <a:ext cx="2286000" cy="939800"/>
          </a:xfrm>
          <a:prstGeom prst="roundRect">
            <a:avLst>
              <a:gd name="adj" fmla="val 12162"/>
            </a:avLst>
          </a:prstGeom>
          <a:solidFill>
            <a:srgbClr val="8B5CF6">
              <a:alpha val="20000"/>
            </a:srgbClr>
          </a:solidFill>
          <a:ln w="12700" cap="flat" cmpd="sng">
            <a:solidFill>
              <a:srgbClr val="C4B5FD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9800" y="4343400"/>
            <a:ext cx="228600" cy="228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3784600" y="4330700"/>
            <a:ext cx="1905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Extensions / Hooks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479800" y="4648200"/>
            <a:ext cx="1955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拦截 / 改写 / 注入 / 管控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" y="5257800"/>
            <a:ext cx="5080000" cy="660400"/>
          </a:xfrm>
          <a:prstGeom prst="roundRect">
            <a:avLst>
              <a:gd name="adj" fmla="val 1730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2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39800" y="5257800"/>
            <a:ext cx="47752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95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Extension 典型场景：</a:t>
            </a: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权限门 · 路径保护 · 上下文裁剪 / RAG 记忆 · 自定义压缩 · MCP · 子 agent · 状态栏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77000" y="3352800"/>
            <a:ext cx="5080000" cy="558800"/>
          </a:xfrm>
          <a:prstGeom prst="roundRect">
            <a:avLst>
              <a:gd name="adj" fmla="val 20454"/>
            </a:avLst>
          </a:prstGeom>
          <a:solidFill>
            <a:srgbClr val="3B82F6">
              <a:alpha val="12000"/>
            </a:srgbClr>
          </a:solidFill>
          <a:ln w="12700" cap="flat" cmpd="sng">
            <a:solidFill>
              <a:srgbClr val="60A5FA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4800" y="3505200"/>
            <a:ext cx="228600" cy="2286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6985000" y="3352800"/>
            <a:ext cx="1651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Custom Tool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要执行新动作 / 调 API</a:t>
            </a:r>
            <a:endParaRPr lang="en-US" sz="900" b="0" i="0" u="none" strike="noStrike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763000" y="3352800"/>
            <a:ext cx="26162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模型原本不会的确定性动作：查内部系统、调接口、算指标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477000" y="3962400"/>
            <a:ext cx="5080000" cy="558800"/>
          </a:xfrm>
          <a:prstGeom prst="roundRect">
            <a:avLst>
              <a:gd name="adj" fmla="val 20454"/>
            </a:avLst>
          </a:prstGeom>
          <a:solidFill>
            <a:srgbClr val="3B82F6">
              <a:alpha val="12000"/>
            </a:srgbClr>
          </a:solidFill>
          <a:ln w="12700" cap="flat" cmpd="sng">
            <a:solidFill>
              <a:srgbClr val="60A5FA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4800" y="4114800"/>
            <a:ext cx="228600" cy="2286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6985000" y="3962400"/>
            <a:ext cx="1651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成体系、按需加载</a:t>
            </a:r>
            <a:endParaRPr lang="en-US" sz="900" b="0" i="0" u="none" strike="noStrike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8763000" y="3962400"/>
            <a:ext cx="26162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大段操作手册 / 流程 + 脚本，任务匹配才读，省上下文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477000" y="4572000"/>
            <a:ext cx="5080000" cy="558800"/>
          </a:xfrm>
          <a:prstGeom prst="roundRect">
            <a:avLst>
              <a:gd name="adj" fmla="val 20454"/>
            </a:avLst>
          </a:prstGeom>
          <a:solidFill>
            <a:srgbClr val="3B82F6">
              <a:alpha val="12000"/>
            </a:srgbClr>
          </a:solidFill>
          <a:ln w="12700" cap="flat" cmpd="sng">
            <a:solidFill>
              <a:srgbClr val="60A5FA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4800" y="4724400"/>
            <a:ext cx="228600" cy="2286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6985000" y="4572000"/>
            <a:ext cx="1651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 模板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 /触发、带参</a:t>
            </a:r>
            <a:endParaRPr lang="en-US" sz="900" b="0" i="0" u="none" strike="noStrike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8763000" y="4572000"/>
            <a:ext cx="26162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一段常用提示或流程，希望一键展开、可传参数复用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477000" y="5181600"/>
            <a:ext cx="5080000" cy="558800"/>
          </a:xfrm>
          <a:prstGeom prst="roundRect">
            <a:avLst>
              <a:gd name="adj" fmla="val 20454"/>
            </a:avLst>
          </a:prstGeom>
          <a:solidFill>
            <a:srgbClr val="3B82F6">
              <a:alpha val="12000"/>
            </a:srgbClr>
          </a:solidFill>
          <a:ln w="12700" cap="flat" cmpd="sng">
            <a:solidFill>
              <a:srgbClr val="60A5FA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4800" y="5334000"/>
            <a:ext cx="228600" cy="228600"/>
          </a:xfrm>
          <a:prstGeom prst="rect">
            <a:avLst/>
          </a:prstGeom>
        </p:spPr>
      </p:pic>
      <p:sp>
        <p:nvSpPr>
          <p:cNvPr id="49" name="AutoShape 49"/>
          <p:cNvSpPr/>
          <p:nvPr/>
        </p:nvSpPr>
        <p:spPr>
          <a:xfrm>
            <a:off x="6985000" y="5181600"/>
            <a:ext cx="1651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 / SYSTEM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9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始终生效的约定</a:t>
            </a:r>
            <a:endParaRPr lang="en-US" sz="900" b="0" i="0" u="none" strike="noStrike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0" name="AutoShape 50"/>
          <p:cNvSpPr/>
          <p:nvPr/>
        </p:nvSpPr>
        <p:spPr>
          <a:xfrm>
            <a:off x="8763000" y="5181600"/>
            <a:ext cx="26162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项目规则、编码约定、背景，无需触发、每次都在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635000" y="5918200"/>
            <a:ext cx="10922000" cy="304800"/>
          </a:xfrm>
          <a:prstGeom prst="roundRect">
            <a:avLst>
              <a:gd name="adj" fmla="val 33333"/>
            </a:avLst>
          </a:prstGeom>
          <a:solidFill>
            <a:srgbClr val="8B5CF6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AutoShape 52"/>
          <p:cNvSpPr/>
          <p:nvPr/>
        </p:nvSpPr>
        <p:spPr>
          <a:xfrm>
            <a:off x="838200" y="5918200"/>
            <a:ext cx="105156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D8C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要把任意机制打包给团队复用或公开发布 → 用 Pi Package（npm / git 分发）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730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静态上下文 · 文件怎么变成模型每轮看到的话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762000"/>
            <a:ext cx="10922000" cy="355600"/>
          </a:xfrm>
          <a:prstGeom prst="roundRect">
            <a:avLst>
              <a:gd name="adj" fmla="val 28571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A78BFA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启动时扫描文件并加载 → 传给 L2 作为初始配置 → L2 每轮把它拼进 messages 发给模型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270000"/>
            <a:ext cx="2476500" cy="711200"/>
          </a:xfrm>
          <a:prstGeom prst="roundRect">
            <a:avLst>
              <a:gd name="adj" fmla="val 10714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你的文件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 / SYSTEM.md / prompts/ / skills/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171744">
            <a:off x="3111659" y="16192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3365500" y="1270000"/>
            <a:ext cx="2476500" cy="711200"/>
          </a:xfrm>
          <a:prstGeom prst="roundRect">
            <a:avLst>
              <a:gd name="adj" fmla="val 10714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启动发现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扫描目录，加载内容，装配进 session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171744">
            <a:off x="5842159" y="16192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6096000" y="1270000"/>
            <a:ext cx="2476500" cy="711200"/>
          </a:xfrm>
          <a:prstGeom prst="roundRect">
            <a:avLst>
              <a:gd name="adj" fmla="val 10714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每轮拼装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系统提示+静态规则+历史+当前输入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171744">
            <a:off x="8572659" y="16192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8826500" y="1270000"/>
            <a:ext cx="2476500" cy="711200"/>
          </a:xfrm>
          <a:prstGeom prst="roundRect">
            <a:avLst>
              <a:gd name="adj" fmla="val 10714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BBF24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模型看到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每轮收到完整 messages，知道规矩和上下文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" y="2222500"/>
            <a:ext cx="10922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四种零代码写法 · 差别在何时进入上下文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" y="2641600"/>
            <a:ext cx="2603500" cy="1651000"/>
          </a:xfrm>
          <a:prstGeom prst="roundRect">
            <a:avLst>
              <a:gd name="adj" fmla="val 4615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0" tIns="76200" rIns="0" bIns="76200" rtlCol="0" anchor="t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项目指令</a:t>
            </a:r>
            <a:endParaRPr lang="en-US" sz="1100"/>
          </a:p>
          <a:p>
            <a:pPr marL="101600" indent="0" algn="l">
              <a:lnSpc>
                <a:spcPct val="117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启动自动加载，每轮都在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01600" indent="0" algn="l">
              <a:lnSpc>
                <a:spcPct val="117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项目概览、构建命令、编码规范、目录结构、已知坑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01600" indent="0" algn="l">
              <a:lnSpc>
                <a:spcPct val="117000"/>
              </a:lnSpc>
            </a:pPr>
            <a:r>
              <a:rPr lang="en-US" sz="8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 · 常驻上下文</a:t>
            </a:r>
            <a:endParaRPr lang="en-US" sz="800" b="0" i="0" u="none" strike="noStrike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429000" y="2641600"/>
            <a:ext cx="2603500" cy="1651000"/>
          </a:xfrm>
          <a:prstGeom prst="roundRect">
            <a:avLst>
              <a:gd name="adj" fmla="val 4615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0" tIns="76200" rIns="0" bIns="76200" rtlCol="0" anchor="t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SYSTEM.md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系统人设</a:t>
            </a:r>
            <a:endParaRPr lang="en-US" sz="1100"/>
          </a:p>
          <a:p>
            <a:pPr marL="101600" indent="0" algn="l">
              <a:lnSpc>
                <a:spcPct val="117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启动自动加载，每轮都在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01600" indent="0" algn="l">
              <a:lnSpc>
                <a:spcPct val="117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系统提示词、角色设定、回答风格、行为约束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01600" indent="0" algn="l">
              <a:lnSpc>
                <a:spcPct val="117000"/>
              </a:lnSpc>
            </a:pPr>
            <a:r>
              <a:rPr lang="en-US" sz="8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 · 常驻上下文</a:t>
            </a:r>
            <a:endParaRPr lang="en-US" sz="800" b="0" i="0" u="none" strike="noStrike">
              <a:solidFill>
                <a:srgbClr val="60A5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2641600"/>
            <a:ext cx="2603500" cy="1651000"/>
          </a:xfrm>
          <a:prstGeom prst="roundRect">
            <a:avLst>
              <a:gd name="adj" fmla="val 4615"/>
            </a:avLst>
          </a:prstGeom>
          <a:solidFill>
            <a:srgbClr val="F59E0B">
              <a:alpha val="8000"/>
            </a:srgbClr>
          </a:solidFill>
          <a:ln w="12700" cap="flat" cmpd="sng">
            <a:solidFill>
              <a:srgbClr val="FBBF24">
                <a:alpha val="40000"/>
              </a:srgbClr>
            </a:solidFill>
            <a:prstDash val="solid"/>
            <a:round/>
          </a:ln>
        </p:spPr>
        <p:txBody>
          <a:bodyPr vert="horz" wrap="square" lIns="0" tIns="76200" rIns="0" bIns="76200" rtlCol="0" anchor="t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Prompts 模板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/命令</a:t>
            </a:r>
            <a:endParaRPr lang="en-US" sz="1100"/>
          </a:p>
          <a:p>
            <a:pPr marL="101600" indent="0" algn="l">
              <a:lnSpc>
                <a:spcPct val="117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你手动 /name 才注入，一次性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01600" indent="0" algn="l">
              <a:lnSpc>
                <a:spcPct val="117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复用一段提示或流程，可带参数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01600" indent="0" algn="l">
              <a:lnSpc>
                <a:spcPct val="117000"/>
              </a:lnSpc>
            </a:pPr>
            <a:r>
              <a:rPr lang="en-US" sz="800" b="0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 · 一次性注入</a:t>
            </a:r>
            <a:endParaRPr lang="en-US" sz="800" b="0" i="0" u="none" strike="noStrike">
              <a:solidFill>
                <a:srgbClr val="FBBF2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9017000" y="2641600"/>
            <a:ext cx="2603500" cy="1651000"/>
          </a:xfrm>
          <a:prstGeom prst="roundRect">
            <a:avLst>
              <a:gd name="adj" fmla="val 4615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76200" rIns="0" bIns="76200" rtlCol="0" anchor="t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</a:t>
            </a: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渐进披露</a:t>
            </a:r>
            <a:endParaRPr lang="en-US" sz="1100"/>
          </a:p>
          <a:p>
            <a:pPr marL="101600" indent="0" algn="l">
              <a:lnSpc>
                <a:spcPct val="117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启动只载入索引，用到才读全文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01600" indent="0" algn="l">
              <a:lnSpc>
                <a:spcPct val="117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能力包，可带脚本，按需加载不占常驻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01600" indent="0" algn="l">
              <a:lnSpc>
                <a:spcPct val="117000"/>
              </a:lnSpc>
            </a:pPr>
            <a:r>
              <a:rPr lang="en-US" sz="8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索引常驻 · 正文按需</a:t>
            </a:r>
            <a:endParaRPr lang="en-US" sz="800" b="0" i="0" u="none" strike="noStrike">
              <a:solidFill>
                <a:srgbClr val="A78B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" y="5114290"/>
            <a:ext cx="10922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谁加载：L3 启动时扫描并装配　|　谁拼装：L2 每轮把静态上下文 + 历史 + 当前输入拼成 messages　|　差别只是何时进上下文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730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 · 渐进披露的能力包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84200"/>
          </a:xfrm>
          <a:prstGeom prst="roundRect">
            <a:avLst>
              <a:gd name="adj" fmla="val 21739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 Agent Skills 标准：启动只载入一行索引，任务匹配时模型才按需读全文、跑脚本——能力可以无限多，常驻成本几乎为零。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524000"/>
            <a:ext cx="4826000" cy="3251200"/>
          </a:xfrm>
          <a:prstGeom prst="roundRect">
            <a:avLst>
              <a:gd name="adj" fmla="val 3906"/>
            </a:avLst>
          </a:prstGeom>
          <a:solidFill>
            <a:srgbClr val="020617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38200" y="1676400"/>
            <a:ext cx="1524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 目录结构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" y="1981200"/>
            <a:ext cx="4419600" cy="289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700"/>
              </a:lnSpc>
              <a:defRPr/>
            </a:pPr>
            <a:r>
              <a:rPr lang="en-US" sz="10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skills/deploy/</a:t>
            </a:r>
            <a:endParaRPr lang="en-US" sz="1100"/>
          </a:p>
          <a:p>
            <a:pPr marL="0" indent="0" algn="l">
              <a:lnSpc>
                <a:spcPts val="1700"/>
              </a:lnSpc>
            </a:pPr>
            <a:r>
              <a:rPr lang="en-US" sz="10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 </a:t>
            </a:r>
            <a:r>
              <a:rPr lang="en-US" sz="1000" b="0" i="0" u="none" strike="noStrike">
                <a:solidFill>
                  <a:srgbClr val="6EE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SKILL.md</a:t>
            </a:r>
            <a:endParaRPr lang="en-US" sz="1000" b="0" i="0" u="none" strike="noStrike">
              <a:solidFill>
                <a:srgbClr val="6EE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ts val="1700"/>
              </a:lnSpc>
            </a:pPr>
            <a:r>
              <a:rPr lang="en-US" sz="95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│ ---</a:t>
            </a:r>
            <a:endParaRPr lang="en-US" sz="95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ts val="1700"/>
              </a:lnSpc>
            </a:pPr>
            <a:r>
              <a:rPr lang="en-US" sz="95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│ name: deploy</a:t>
            </a:r>
            <a:endParaRPr lang="en-US" sz="95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ts val="1700"/>
              </a:lnSpc>
            </a:pPr>
            <a:r>
              <a:rPr lang="en-US" sz="95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│ description: 发布流程…</a:t>
            </a:r>
            <a:endParaRPr lang="en-US" sz="95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ts val="1700"/>
              </a:lnSpc>
            </a:pPr>
            <a:r>
              <a:rPr lang="en-US" sz="950" b="0" i="0" u="none" strike="noStrike">
                <a:solidFill>
                  <a:srgbClr val="FCD34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│ ▲ 决定何时被加载</a:t>
            </a:r>
            <a:endParaRPr lang="en-US" sz="950" b="0" i="0" u="none" strike="noStrike">
              <a:solidFill>
                <a:srgbClr val="FCD34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ts val="1700"/>
              </a:lnSpc>
            </a:pPr>
            <a:r>
              <a:rPr lang="en-US" sz="95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│ allowed-tools: [bash, read]</a:t>
            </a:r>
            <a:endParaRPr lang="en-US" sz="95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ts val="1700"/>
              </a:lnSpc>
            </a:pPr>
            <a:r>
              <a:rPr lang="en-US" sz="10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 </a:t>
            </a:r>
            <a:r>
              <a:rPr lang="en-US" sz="1000" b="0" i="0" u="none" strike="noStrike">
                <a:solidFill>
                  <a:srgbClr val="6EE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scripts/</a:t>
            </a:r>
            <a:r>
              <a:rPr lang="en-US" sz="10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可执行脚本</a:t>
            </a:r>
            <a:endParaRPr lang="en-US" sz="10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ts val="1700"/>
              </a:lnSpc>
            </a:pPr>
            <a:r>
              <a:rPr lang="en-US" sz="10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 </a:t>
            </a:r>
            <a:r>
              <a:rPr lang="en-US" sz="1000" b="0" i="0" u="none" strike="noStrike">
                <a:solidFill>
                  <a:srgbClr val="6EE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references/</a:t>
            </a:r>
            <a:r>
              <a:rPr lang="en-US" sz="10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参考文档</a:t>
            </a:r>
            <a:endParaRPr lang="en-US" sz="10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ts val="1700"/>
              </a:lnSpc>
            </a:pPr>
            <a:r>
              <a:rPr lang="en-US" sz="10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└─ </a:t>
            </a:r>
            <a:r>
              <a:rPr lang="en-US" sz="1000" b="0" i="0" u="none" strike="noStrike">
                <a:solidFill>
                  <a:srgbClr val="6EE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assets/</a:t>
            </a:r>
            <a:r>
              <a:rPr lang="en-US" sz="10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模板 / 资源</a:t>
            </a:r>
            <a:endParaRPr lang="en-US" sz="10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ts val="1700"/>
              </a:lnSpc>
            </a:pPr>
          </a:p>
          <a:p>
            <a:pPr marL="0" indent="0" algn="l">
              <a:lnSpc>
                <a:spcPts val="17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name 仅允许 a-z 0-9 - ；description 必填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15000" y="1524000"/>
            <a:ext cx="584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渐进披露 Progressive Disclosure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15000" y="1905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892800" y="2095500"/>
            <a:ext cx="381000" cy="38100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26200" y="1905000"/>
            <a:ext cx="508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启动时：只扫 name + description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不读 SKILL.md 正文，更不读脚本与参考；每个能力只花一行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057364">
            <a:off x="8572500" y="27498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5715000" y="28448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8B5CF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892800" y="3035300"/>
            <a:ext cx="381000" cy="38100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26200" y="2844800"/>
            <a:ext cx="508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索引以 XML 注入 system prompt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模型始终知道「有哪些能力、各自干什么」，但看不到内容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5057364">
            <a:off x="8572500" y="36896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5715000" y="37846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8B5CF6">
              <a:alpha val="16000"/>
            </a:srgbClr>
          </a:solidFill>
          <a:ln w="12700" cap="flat" cmpd="sng">
            <a:solidFill>
              <a:srgbClr val="C4B5FD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892800" y="3975100"/>
            <a:ext cx="381000" cy="381000"/>
          </a:xfrm>
          <a:prstGeom prst="ellipse">
            <a:avLst/>
          </a:prstGeom>
          <a:solidFill>
            <a:srgbClr val="8B5CF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26200" y="3784600"/>
            <a:ext cx="508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任务命中：按需加载全文并执行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950" b="0" i="0" u="none" strike="noStrike">
                <a:solidFill>
                  <a:srgbClr val="D8C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模型用 read / bash 读 SKILL.md、references，运行 scripts</a:t>
            </a:r>
            <a:endParaRPr lang="en-US" sz="950" b="0" i="0" u="none" strike="noStrike">
              <a:solidFill>
                <a:srgbClr val="D8CA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715000" y="4622800"/>
            <a:ext cx="5842000" cy="279400"/>
          </a:xfrm>
          <a:prstGeom prst="roundRect">
            <a:avLst>
              <a:gd name="adj" fmla="val 36363"/>
            </a:avLst>
          </a:prstGeom>
          <a:solidFill>
            <a:srgbClr val="10B981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正文不常驻、不撑爆 prompt cache；能力再多，常驻成本也几乎为零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" y="4978400"/>
            <a:ext cx="5334000" cy="1117600"/>
          </a:xfrm>
          <a:prstGeom prst="roundRect">
            <a:avLst>
              <a:gd name="adj" fmla="val 1136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5156200"/>
            <a:ext cx="228600" cy="228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143000" y="5143500"/>
            <a:ext cx="482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触发与发现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" y="5410200"/>
            <a:ext cx="4953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触发：</a:t>
            </a: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/skill:name 手动，或模型按 description 自动调用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95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发现：</a:t>
            </a: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~/.pi/agent/skills、.pi/skills、.agents/skills、packages、--skill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兼容复用 ~/.claude/skills、~/.codex/skills（同一标准）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23000" y="4978400"/>
            <a:ext cx="5334000" cy="1117600"/>
          </a:xfrm>
          <a:prstGeom prst="roundRect">
            <a:avLst>
              <a:gd name="adj" fmla="val 11363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6200" y="5156200"/>
            <a:ext cx="228600" cy="228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731000" y="5143500"/>
            <a:ext cx="482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什么时候用 Skill（而非 AGENTS）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26200" y="5410200"/>
            <a:ext cx="4953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成体系、步骤多、不常用、带脚本的流程</a:t>
            </a: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Skill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95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每次都要遵守的简短约定</a:t>
            </a: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AGENTS.md 常驻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例：发布、数据迁移、框架脚手架、领域操作手册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12700" cap="flat" cmpd="sng">
            <a:solidFill>
              <a:srgbClr val="A78BFA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730500" y="279400"/>
            <a:ext cx="8128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Extensions / Hooks · 幕后扩展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33400"/>
          </a:xfrm>
          <a:prstGeom prst="roundRect">
            <a:avLst>
              <a:gd name="adj" fmla="val 1904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 TypeScript 模块订阅 20+ 生命周期事件，在模型完全无感时拦截、改写、注入——它改变的是 agent「如何行事」，而不是给模型一个新动作。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5494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模型无感的幕后层</a:t>
            </a:r>
            <a:endParaRPr lang="en-US" sz="1100"/>
          </a:p>
          <a:p>
            <a:pPr marL="17780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Extension 拦截事件、改运行行为，模型不知道它存在。</a:t>
            </a:r>
            <a:endParaRPr lang="en-US" sz="10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对照：Tool 是模型可见、由模型在对话中主动调用的。</a:t>
            </a:r>
            <a:endParaRPr lang="en-US" sz="10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" y="29718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registerCommand · 面向人的命令</a:t>
            </a:r>
            <a:endParaRPr lang="en-US" sz="1100"/>
          </a:p>
          <a:p>
            <a:pPr marL="17780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注册斜杠命令和快捷键，由用户触发，可直接执行而不必交给模型。</a:t>
            </a:r>
            <a:endParaRPr lang="en-US" sz="10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它不是 LLM 工具——不要和 Custom Tool 混淆。</a:t>
            </a:r>
            <a:endParaRPr lang="en-US" sz="10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" y="43942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扩展能访问的能力面</a:t>
            </a:r>
            <a:endParaRPr lang="en-US" sz="1100"/>
          </a:p>
          <a:p>
            <a:pPr marL="17780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tools / commands / 快捷插件 / 事件总线 / 完整 TUI</a:t>
            </a:r>
            <a:endParaRPr lang="en-US" sz="10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ctx.ui · ctx.custom · ctx.compact · ctx.getContextUsage</a:t>
            </a:r>
            <a:endParaRPr lang="en-US" sz="10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477000" y="1549400"/>
            <a:ext cx="558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典型场景 · 挂在哪个钩子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006600"/>
            <a:ext cx="2667000" cy="91440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权限闸门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批准/拒绝危险操作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tool_call · block</a:t>
            </a:r>
            <a:endParaRPr lang="en-US" sz="900" b="0" i="0" u="none" strike="noStrike">
              <a:solidFill>
                <a:srgbClr val="A78B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398000" y="2006600"/>
            <a:ext cx="2667000" cy="91440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路径保护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禁止写敏感目录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tool_call · 改参</a:t>
            </a:r>
            <a:endParaRPr lang="en-US" sz="900" b="0" i="0" u="none" strike="noStrike">
              <a:solidFill>
                <a:srgbClr val="A78B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77000" y="3048000"/>
            <a:ext cx="2667000" cy="91440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上下文裁剪 / RAG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注入检索结果、长期记忆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context 钩子</a:t>
            </a:r>
            <a:endParaRPr lang="en-US" sz="900" b="0" i="0" u="none" strike="noStrike">
              <a:solidFill>
                <a:srgbClr val="A78B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398000" y="3048000"/>
            <a:ext cx="2667000" cy="91440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自定义压缩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取消压缩 / 自定义摘要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session_before_compact</a:t>
            </a:r>
            <a:endParaRPr lang="en-US" sz="900" b="0" i="0" u="none" strike="noStrike">
              <a:solidFill>
                <a:srgbClr val="A78B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477000" y="4089400"/>
            <a:ext cx="2667000" cy="91440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/ 子 agent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接入外部服务、派生代理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 + 工具桥接</a:t>
            </a:r>
            <a:endParaRPr lang="en-US" sz="900" b="0" i="0" u="none" strike="noStrike">
              <a:solidFill>
                <a:srgbClr val="A78B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398000" y="4089400"/>
            <a:ext cx="2667000" cy="91440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状态栏 / TUI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自定义界面区块与展示</a:t>
            </a:r>
            <a:endParaRPr lang="en-US" sz="95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ctx.ui / custom</a:t>
            </a:r>
            <a:endParaRPr lang="en-US" sz="900" b="0" i="0" u="none" strike="noStrike">
              <a:solidFill>
                <a:srgbClr val="A78B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" y="5613400"/>
            <a:ext cx="10922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区分：要模型「知道/做到」→ 用 Tool 或 Prompt；要在模型不知情下改 agent 行为 → 用 Extension。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603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自定义工具 · 打包分发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762000"/>
            <a:ext cx="10922000" cy="381000"/>
          </a:xfrm>
          <a:prstGeom prst="roundRect">
            <a:avLst>
              <a:gd name="adj" fmla="val 26666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Custom Tool 用 TypeScript 给模型一个新动作；Pi Package 把任意扩展打包，npm / git 一键安装、各机制自动归位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270000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一个工具的五个要素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625600"/>
            <a:ext cx="25400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name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调用名</a:t>
            </a:r>
            <a:endParaRPr lang="en-US" sz="1100"/>
          </a:p>
          <a:p>
            <a:pPr marL="127000" indent="0" algn="l">
              <a:lnSpc>
                <a:spcPct val="100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模型用它发起调用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65500" y="1625600"/>
            <a:ext cx="25400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label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UI 展示名</a:t>
            </a:r>
            <a:endParaRPr lang="en-US" sz="1100"/>
          </a:p>
          <a:p>
            <a:pPr marL="127000" indent="0" algn="l">
              <a:lnSpc>
                <a:spcPct val="100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给人看，模型不关心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" y="2438400"/>
            <a:ext cx="25400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description</a:t>
            </a:r>
            <a:endParaRPr lang="en-US" sz="1100"/>
          </a:p>
          <a:p>
            <a:pPr marL="127000" indent="0" algn="l">
              <a:lnSpc>
                <a:spcPct val="100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告诉模型什么时候用它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365500" y="2438400"/>
            <a:ext cx="25400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parameters</a:t>
            </a:r>
            <a:endParaRPr lang="en-US" sz="1100"/>
          </a:p>
          <a:p>
            <a:pPr marL="127000" indent="0" algn="l">
              <a:lnSpc>
                <a:spcPct val="100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TypeBox schema + AJV 校验入参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" y="3251200"/>
            <a:ext cx="2540000" cy="711200"/>
          </a:xfrm>
          <a:prstGeom prst="roundRect">
            <a:avLst>
              <a:gd name="adj" fmla="val 10714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execute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执行函数</a:t>
            </a:r>
            <a:endParaRPr lang="en-US" sz="1100"/>
          </a:p>
          <a:p>
            <a:pPr marL="127000" indent="0" algn="l">
              <a:lnSpc>
                <a:spcPct val="100000"/>
              </a:lnSpc>
            </a:pPr>
            <a:r>
              <a:rPr lang="en-US" sz="8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 onUpdate 推流式进度</a:t>
            </a:r>
            <a:endParaRPr lang="en-US" sz="8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" y="4114800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一次执行，两路结果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449580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模型调用 execute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14549">
            <a:off x="2159106" y="46799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-3121667">
            <a:off x="2468685" y="4527472"/>
            <a:ext cx="39676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4D399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7" name="Connector 17"/>
          <p:cNvCxnSpPr/>
          <p:nvPr/>
        </p:nvCxnSpPr>
        <p:spPr>
          <a:xfrm rot="2901663">
            <a:off x="2468685" y="4832428"/>
            <a:ext cx="39676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/>
          <p:nvPr/>
        </p:nvSpPr>
        <p:spPr>
          <a:xfrm>
            <a:off x="2794000" y="4127500"/>
            <a:ext cx="2794000" cy="558800"/>
          </a:xfrm>
          <a:prstGeom prst="roundRect">
            <a:avLst>
              <a:gd name="adj" fmla="val 13636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 → 回灌模型</a:t>
            </a:r>
            <a:endParaRPr lang="en-US" sz="1100"/>
          </a:p>
          <a:p>
            <a:pPr marL="101600"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精炼、面向模型，进消息历史，驱动下一轮推理</a:t>
            </a:r>
            <a:endParaRPr lang="en-US" sz="8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2794000" y="4711700"/>
            <a:ext cx="2794000" cy="558800"/>
          </a:xfrm>
          <a:prstGeom prst="roundRect">
            <a:avLst>
              <a:gd name="adj" fmla="val 13636"/>
            </a:avLst>
          </a:prstGeom>
          <a:solidFill>
            <a:srgbClr val="3B82F6">
              <a:alpha val="12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0160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details → 给 UI / 日志</a:t>
            </a:r>
            <a:endParaRPr lang="en-US" sz="1100"/>
          </a:p>
          <a:p>
            <a:pPr marL="101600"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详尽、面向人，不占上下文，不喂给模型</a:t>
            </a:r>
            <a:endParaRPr lang="en-US" sz="8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50000" y="1270000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Package · 打包分发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1651000"/>
            <a:ext cx="1651000" cy="50800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写扩展文件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六类机制任选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-137436">
            <a:off x="8001127" y="1898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8318500" y="1651000"/>
            <a:ext cx="1651000" cy="508000"/>
          </a:xfrm>
          <a:prstGeom prst="roundRect">
            <a:avLst>
              <a:gd name="adj" fmla="val 15000"/>
            </a:avLst>
          </a:prstGeom>
          <a:solidFill>
            <a:srgbClr val="8B5CF6">
              <a:alpha val="20000"/>
            </a:srgbClr>
          </a:solidFill>
          <a:ln w="12700" cap="flat" cmpd="sng">
            <a:solidFill>
              <a:srgbClr val="A78B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打包成一个包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同一目录结构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-137436">
            <a:off x="9969627" y="1898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8BFA">
                <a:alpha val="6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25"/>
          <p:cNvSpPr/>
          <p:nvPr/>
        </p:nvSpPr>
        <p:spPr>
          <a:xfrm>
            <a:off x="10287000" y="1651000"/>
            <a:ext cx="1524000" cy="50800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npm / git 安装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一键安装</a:t>
            </a:r>
            <a:endParaRPr lang="en-US" sz="8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50000" y="2349500"/>
            <a:ext cx="5461000" cy="457200"/>
          </a:xfrm>
          <a:prstGeom prst="roundRect">
            <a:avLst>
              <a:gd name="adj" fmla="val 16666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安装后触发资源发现，六类扩展自动归位注册，团队共享一套工作方式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2984500"/>
            <a:ext cx="1714500" cy="381000"/>
          </a:xfrm>
          <a:prstGeom prst="roundRect">
            <a:avLst>
              <a:gd name="adj" fmla="val 13333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AGENTS/SYSTEM.md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91500" y="2984500"/>
            <a:ext cx="1714500" cy="381000"/>
          </a:xfrm>
          <a:prstGeom prst="roundRect">
            <a:avLst>
              <a:gd name="adj" fmla="val 13333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prompts/ 模板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033000" y="2984500"/>
            <a:ext cx="1714500" cy="381000"/>
          </a:xfrm>
          <a:prstGeom prst="roundRect">
            <a:avLst>
              <a:gd name="adj" fmla="val 13333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skills/ 技能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3492500"/>
            <a:ext cx="1714500" cy="381000"/>
          </a:xfrm>
          <a:prstGeom prst="roundRect">
            <a:avLst>
              <a:gd name="adj" fmla="val 13333"/>
            </a:avLst>
          </a:prstGeom>
          <a:solidFill>
            <a:srgbClr val="F59E0B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tools/ 自定义工具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191500" y="3492500"/>
            <a:ext cx="1714500" cy="381000"/>
          </a:xfrm>
          <a:prstGeom prst="roundRect">
            <a:avLst>
              <a:gd name="adj" fmla="val 13333"/>
            </a:avLst>
          </a:prstGeom>
          <a:solidFill>
            <a:srgbClr val="F59E0B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extensions/ 扩展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033000" y="3492500"/>
            <a:ext cx="17145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themes/ 主题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350000" y="4064000"/>
            <a:ext cx="5461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绿色三组</a:t>
            </a:r>
            <a:r>
              <a:rPr lang="en-US" sz="9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：零代码 Markdown，模型可见自动注入</a:t>
            </a:r>
            <a:endParaRPr lang="en-US" sz="1100"/>
          </a:p>
          <a:p>
            <a:pPr marL="127000" indent="0" algn="l">
              <a:lnSpc>
                <a:spcPct val="108000"/>
              </a:lnSpc>
            </a:pPr>
            <a:r>
              <a:rPr lang="en-US" sz="900" b="0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琥珀色两组</a:t>
            </a:r>
            <a:r>
              <a:rPr lang="en-US" sz="9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：TypeScript 代码，模型无感知后台运行</a:t>
            </a:r>
            <a:endParaRPr lang="en-US" sz="9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08000"/>
              </a:lnSpc>
            </a:pPr>
            <a:r>
              <a:rPr lang="en-US" sz="9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灰色一组：Theme 界面配色配置</a:t>
            </a:r>
            <a:endParaRPr lang="en-US" sz="9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35000" y="5651500"/>
            <a:ext cx="10922000" cy="457200"/>
          </a:xfrm>
          <a:prstGeom prst="roundRect">
            <a:avLst>
              <a:gd name="adj" fmla="val 22222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 是模型在对话中自主调用的「动作」，不是幕后钩子；团队要复用就打成 Pi Package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CODING-AGENT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349500" y="279400"/>
            <a:ext cx="8128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pi-coding-agent · 一层树状融汇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064000" y="812800"/>
            <a:ext cx="4064000" cy="508000"/>
          </a:xfrm>
          <a:prstGeom prst="roundRect">
            <a:avLst>
              <a:gd name="adj" fmla="val 25000"/>
            </a:avLst>
          </a:prstGeom>
          <a:solidFill>
            <a:srgbClr val="8B5CF6">
              <a:alpha val="25000"/>
            </a:srgbClr>
          </a:solidFill>
          <a:ln w="25400" cap="flat" cmpd="sng">
            <a:solidFill>
              <a:srgbClr val="A78BFA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DE9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pi-coding-agent 运行时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057364">
            <a:off x="6032500" y="13782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-5729">
            <a:off x="2286005" y="14414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4972499">
            <a:off x="2235200" y="1492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4972499">
            <a:off x="6045200" y="1492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4972499">
            <a:off x="9855200" y="1492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08000" y="1549400"/>
            <a:ext cx="3556000" cy="381000"/>
          </a:xfrm>
          <a:prstGeom prst="roundRect">
            <a:avLst>
              <a:gd name="adj" fmla="val 26666"/>
            </a:avLst>
          </a:prstGeom>
          <a:solidFill>
            <a:srgbClr val="8B5CF6">
              <a:alpha val="20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· 内置运行时（自带能力）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549400"/>
            <a:ext cx="3556000" cy="381000"/>
          </a:xfrm>
          <a:prstGeom prst="roundRect">
            <a:avLst>
              <a:gd name="adj" fmla="val 26666"/>
            </a:avLst>
          </a:prstGeom>
          <a:solidFill>
            <a:srgbClr val="3B82F6">
              <a:alpha val="20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 · 启动装配（一次流程）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549400"/>
            <a:ext cx="3556000" cy="381000"/>
          </a:xfrm>
          <a:prstGeom prst="roundRect">
            <a:avLst>
              <a:gd name="adj" fmla="val 26666"/>
            </a:avLst>
          </a:prstGeom>
          <a:solidFill>
            <a:srgbClr val="F59E0B">
              <a:alpha val="20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· 扩展体系（挂载点）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4972499">
            <a:off x="2235200" y="19752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508000" y="2032000"/>
            <a:ext cx="3556000" cy="609600"/>
          </a:xfrm>
          <a:prstGeom prst="roundRect">
            <a:avLst>
              <a:gd name="adj" fmla="val 1250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内置工具集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read / edit / bash / grep — 模型直接调用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4972499">
            <a:off x="2235200" y="26864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508000" y="2743200"/>
            <a:ext cx="3556000" cy="609600"/>
          </a:xfrm>
          <a:prstGeom prst="roundRect">
            <a:avLst>
              <a:gd name="adj" fmla="val 1250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JSONL 持久化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会话树，每条消息落盘，可 /tree /fork 回溯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4972499">
            <a:off x="2235200" y="3397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08000" y="3454400"/>
            <a:ext cx="3556000" cy="609600"/>
          </a:xfrm>
          <a:prstGeom prst="roundRect">
            <a:avLst>
              <a:gd name="adj" fmla="val 1250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上下文压缩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 token 限时自动 compact，保留关键信息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4972499">
            <a:off x="2235200" y="41088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508000" y="4165600"/>
            <a:ext cx="3556000" cy="609600"/>
          </a:xfrm>
          <a:prstGeom prst="roundRect">
            <a:avLst>
              <a:gd name="adj" fmla="val 1250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DDD6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四种运行形态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TUI / Print·JSON / RPC / SDK 嵌入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 rot="4972499">
            <a:off x="6045200" y="19752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4318000" y="2032000"/>
            <a:ext cx="3556000" cy="609600"/>
          </a:xfrm>
          <a:prstGeom prst="roundRect">
            <a:avLst>
              <a:gd name="adj" fmla="val 12500"/>
            </a:avLst>
          </a:prstGeom>
          <a:solidFill>
            <a:srgbClr val="3B82F6">
              <a:alpha val="14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resources_discover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扫描目录，发现 AGENTS/SYSTEM/Skill/Extension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5114181">
            <a:off x="6019800" y="2711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/>
        </p:nvSpPr>
        <p:spPr>
          <a:xfrm>
            <a:off x="4318000" y="2844800"/>
            <a:ext cx="3556000" cy="609600"/>
          </a:xfrm>
          <a:prstGeom prst="roundRect">
            <a:avLst>
              <a:gd name="adj" fmla="val 12500"/>
            </a:avLst>
          </a:prstGeom>
          <a:solidFill>
            <a:srgbClr val="3B82F6">
              <a:alpha val="14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装载静态上下文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 / SYSTEM.md 常驻注入 systemPrompt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5114181">
            <a:off x="6019800" y="35245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8" name="AutoShape 28"/>
          <p:cNvSpPr/>
          <p:nvPr/>
        </p:nvSpPr>
        <p:spPr>
          <a:xfrm>
            <a:off x="4318000" y="3657600"/>
            <a:ext cx="3556000" cy="609600"/>
          </a:xfrm>
          <a:prstGeom prst="roundRect">
            <a:avLst>
              <a:gd name="adj" fmla="val 12500"/>
            </a:avLst>
          </a:prstGeom>
          <a:solidFill>
            <a:srgbClr val="3B82F6">
              <a:alpha val="14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装配 initialState</a:t>
            </a:r>
            <a:endParaRPr lang="en-US" sz="1100"/>
          </a:p>
          <a:p>
            <a:pPr marL="12700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 + tools + thinkingLevel + prompt 组装完成</a:t>
            </a:r>
            <a:endParaRPr lang="en-US" sz="9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9" name="Connector 29"/>
          <p:cNvCxnSpPr/>
          <p:nvPr/>
        </p:nvCxnSpPr>
        <p:spPr>
          <a:xfrm rot="5114181">
            <a:off x="6019800" y="4337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7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0" name="AutoShape 30"/>
          <p:cNvSpPr/>
          <p:nvPr/>
        </p:nvSpPr>
        <p:spPr>
          <a:xfrm>
            <a:off x="4318000" y="4470400"/>
            <a:ext cx="3556000" cy="457200"/>
          </a:xfrm>
          <a:prstGeom prst="roundRect">
            <a:avLst>
              <a:gd name="adj" fmla="val 16666"/>
            </a:avLst>
          </a:prstGeom>
          <a:solidFill>
            <a:srgbClr val="3B82F6">
              <a:alpha val="30000"/>
            </a:srgbClr>
          </a:solidFill>
          <a:ln w="12700" cap="flat" cmpd="sng">
            <a:solidFill>
              <a:srgbClr val="60A5FA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装配完成 → 进入 Agent Loop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4972499">
            <a:off x="9855200" y="19752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8128000" y="2032000"/>
            <a:ext cx="3556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86EF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零代码 · Markdown（模型可见）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128000" y="2286000"/>
            <a:ext cx="3556000" cy="431800"/>
          </a:xfrm>
          <a:prstGeom prst="roundRect">
            <a:avLst>
              <a:gd name="adj" fmla="val 17647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 / SYSTEM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常驻注入，定义项目规则与人设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128000" y="2768600"/>
            <a:ext cx="3556000" cy="431800"/>
          </a:xfrm>
          <a:prstGeom prst="roundRect">
            <a:avLst>
              <a:gd name="adj" fmla="val 17647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 模板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/name 手动触发，预设指令片段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128000" y="3251200"/>
            <a:ext cx="3556000" cy="431800"/>
          </a:xfrm>
          <a:prstGeom prst="roundRect">
            <a:avLst>
              <a:gd name="adj" fmla="val 17647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渐进披露，索引常驻，内容按需展开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128000" y="3784600"/>
            <a:ext cx="2540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TypeScript · 代码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128000" y="4038600"/>
            <a:ext cx="3556000" cy="431800"/>
          </a:xfrm>
          <a:prstGeom prst="roundRect">
            <a:avLst>
              <a:gd name="adj" fmla="val 17647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Custom Tool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模型可见新工具，五要素，两路返回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0" y="4521200"/>
            <a:ext cx="3556000" cy="431800"/>
          </a:xfrm>
          <a:prstGeom prst="roundRect">
            <a:avLst>
              <a:gd name="adj" fmla="val 17647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Extension / Hook</a:t>
            </a:r>
            <a:r>
              <a:rPr lang="en-US" sz="8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幕后拦截 20+ 事件，模型无感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35000" y="5283200"/>
            <a:ext cx="10922000" cy="381000"/>
          </a:xfrm>
          <a:prstGeom prst="roundRect">
            <a:avLst>
              <a:gd name="adj" fmla="val 26666"/>
            </a:avLst>
          </a:prstGeom>
          <a:solidFill>
            <a:srgbClr val="F59E0B">
              <a:alpha val="18000"/>
            </a:srgbClr>
          </a:solidFill>
          <a:ln w="12700" cap="flat" cmpd="sng">
            <a:solidFill>
              <a:srgbClr val="F59E0B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FDE6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 Package</a:t>
            </a: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·　npm / git 一键安装，一个包携带上述全部扩展，跨项目复用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35000" y="5765800"/>
            <a:ext cx="10922000" cy="381000"/>
          </a:xfrm>
          <a:prstGeom prst="roundRect">
            <a:avLst>
              <a:gd name="adj" fmla="val 26666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是运行时自带的底子，B 是启动时的装配流程，C 是挂载在运行时上的扩展——先装配好，再挂上扩展，然后进入 Loop。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三层协作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349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一个请求如何穿过三层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84200"/>
          </a:xfrm>
          <a:prstGeom prst="roundRect">
            <a:avLst>
              <a:gd name="adj" fmla="val 2173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任务：在 TUI 输入「给 utils.ts 的排序函数补单元测试并运行」——看它在 L3 / L2 / L1 之间如何流动。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1524000"/>
            <a:ext cx="10922000" cy="1270000"/>
          </a:xfrm>
          <a:prstGeom prst="roundRect">
            <a:avLst>
              <a:gd name="adj" fmla="val 10000"/>
            </a:avLst>
          </a:prstGeom>
          <a:solidFill>
            <a:srgbClr val="8B5CF6">
              <a:alpha val="7000"/>
            </a:srgbClr>
          </a:solidFill>
          <a:ln w="12700" cap="flat" cmpd="sng">
            <a:solidFill>
              <a:srgbClr val="8B5C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1524000"/>
            <a:ext cx="1422400" cy="1270000"/>
          </a:xfrm>
          <a:prstGeom prst="roundRect">
            <a:avLst>
              <a:gd name="adj" fmla="val 10000"/>
            </a:avLst>
          </a:prstGeom>
          <a:solidFill>
            <a:srgbClr val="8B5C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11200" y="1778000"/>
            <a:ext cx="127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coding-agent</a:t>
            </a:r>
            <a:endParaRPr lang="en-US" sz="1000" b="0" i="0" u="none" strike="noStrike">
              <a:solidFill>
                <a:srgbClr val="E9D5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8000"/>
              </a:lnSpc>
            </a:pPr>
            <a:r>
              <a:rPr lang="en-US" sz="900" b="0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装配 · 持久 · 界面</a:t>
            </a:r>
            <a:endParaRPr lang="en-US" sz="900" b="0" i="0" u="none" strike="noStrike">
              <a:solidFill>
                <a:srgbClr val="E9D5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260600" y="1676400"/>
            <a:ext cx="3810000" cy="965200"/>
          </a:xfrm>
          <a:prstGeom prst="roundRect">
            <a:avLst>
              <a:gd name="adj" fmla="val 11842"/>
            </a:avLst>
          </a:prstGeom>
          <a:solidFill>
            <a:srgbClr val="8B5CF6">
              <a:alpha val="16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438400" y="1676400"/>
            <a:ext cx="3505200" cy="965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接收与准备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9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TUI 收到输入，追加写 JSONL；发现匹配的 skill / AGENTS.md 指令，准备工具集</a:t>
            </a:r>
            <a:endParaRPr lang="en-US" sz="9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772400" y="1676400"/>
            <a:ext cx="3581400" cy="965200"/>
          </a:xfrm>
          <a:prstGeom prst="roundRect">
            <a:avLst>
              <a:gd name="adj" fmla="val 11842"/>
            </a:avLst>
          </a:prstGeom>
          <a:solidFill>
            <a:srgbClr val="8B5CF6">
              <a:alpha val="16000"/>
            </a:srgbClr>
          </a:solidFill>
          <a:ln w="12700" cap="flat" cmpd="sng">
            <a:solidFill>
              <a:srgbClr val="A78BF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950200" y="1676400"/>
            <a:ext cx="3276600" cy="965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1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⑥</a:t>
            </a: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呈现与落盘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9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差分渲染流式回复与工具输出，保存会话；可 /tree、/fork 回溯</a:t>
            </a:r>
            <a:endParaRPr lang="en-US" sz="9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114181">
            <a:off x="3733800" y="28641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6" name="Connector 16"/>
          <p:cNvCxnSpPr/>
          <p:nvPr/>
        </p:nvCxnSpPr>
        <p:spPr>
          <a:xfrm rot="-5685818">
            <a:off x="9575800" y="2863586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635000" y="2946400"/>
            <a:ext cx="10922000" cy="1778000"/>
          </a:xfrm>
          <a:prstGeom prst="roundRect">
            <a:avLst>
              <a:gd name="adj" fmla="val 7142"/>
            </a:avLst>
          </a:prstGeom>
          <a:solidFill>
            <a:srgbClr val="3B82F6">
              <a:alpha val="7000"/>
            </a:srgbClr>
          </a:solidFill>
          <a:ln w="12700" cap="flat" cmpd="sng">
            <a:solidFill>
              <a:srgbClr val="3B82F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" y="2946400"/>
            <a:ext cx="1422400" cy="1778000"/>
          </a:xfrm>
          <a:prstGeom prst="roundRect">
            <a:avLst>
              <a:gd name="adj" fmla="val 8928"/>
            </a:avLst>
          </a:prstGeom>
          <a:solidFill>
            <a:srgbClr val="3B82F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11200" y="3378200"/>
            <a:ext cx="1270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DBE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agent-core</a:t>
            </a:r>
            <a:endParaRPr lang="en-US" sz="1000" b="0" i="0" u="none" strike="noStrike">
              <a:solidFill>
                <a:srgbClr val="DBEA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8000"/>
              </a:lnSpc>
            </a:pPr>
            <a:r>
              <a:rPr lang="en-US" sz="900" b="0" i="0" u="none" strike="noStrike">
                <a:solidFill>
                  <a:srgbClr val="DBE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 · 校验 · 事件</a:t>
            </a:r>
            <a:endParaRPr lang="en-US" sz="900" b="0" i="0" u="none" strike="noStrike">
              <a:solidFill>
                <a:srgbClr val="DBEA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2260600" y="3098800"/>
            <a:ext cx="2540000" cy="1473200"/>
          </a:xfrm>
          <a:prstGeom prst="roundRect">
            <a:avLst>
              <a:gd name="adj" fmla="val 7758"/>
            </a:avLst>
          </a:prstGeom>
          <a:solidFill>
            <a:srgbClr val="3B82F6">
              <a:alpha val="16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2413000" y="3098800"/>
            <a:ext cx="2260600" cy="147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</a:t>
            </a: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进入 turn 循环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9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组装 systemPrompt + 消息 + 工具描述，turn_start，调 context 钩子</a:t>
            </a:r>
            <a:endParaRPr lang="en-US" sz="9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-171744">
            <a:off x="4826159" y="3829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5130800" y="3098800"/>
            <a:ext cx="2540000" cy="1473200"/>
          </a:xfrm>
          <a:prstGeom prst="roundRect">
            <a:avLst>
              <a:gd name="adj" fmla="val 7758"/>
            </a:avLst>
          </a:prstGeom>
          <a:solidFill>
            <a:srgbClr val="F59E0B">
              <a:alpha val="12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283200" y="3098800"/>
            <a:ext cx="2260600" cy="147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</a:t>
            </a: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工具决策与执行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9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模型请求 read / edit / bash；AJV 校验参数后执行（工具由 L3 提供）</a:t>
            </a:r>
            <a:endParaRPr lang="en-US" sz="9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-171744">
            <a:off x="7696359" y="3829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/>
        </p:nvSpPr>
        <p:spPr>
          <a:xfrm>
            <a:off x="7975600" y="3098800"/>
            <a:ext cx="3403600" cy="1473200"/>
          </a:xfrm>
          <a:prstGeom prst="roundRect">
            <a:avLst>
              <a:gd name="adj" fmla="val 7758"/>
            </a:avLst>
          </a:prstGeom>
          <a:solidFill>
            <a:srgbClr val="3B82F6">
              <a:alpha val="16000"/>
            </a:srgbClr>
          </a:solidFill>
          <a:ln w="12700" cap="flat" cmpd="sng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128000" y="3098800"/>
            <a:ext cx="3124200" cy="147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</a:t>
            </a: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结果回灌 · 多轮往返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9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 回灌消息历史，再调模型；读文件→改测试→跑测试，多轮直到 turn_end</a:t>
            </a:r>
            <a:endParaRPr lang="en-US" sz="9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8" name="Connector 28"/>
          <p:cNvCxnSpPr/>
          <p:nvPr/>
        </p:nvCxnSpPr>
        <p:spPr>
          <a:xfrm rot="5209210">
            <a:off x="5473700" y="48579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EE7B7">
                <a:alpha val="9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9" name="Connector 29"/>
          <p:cNvCxnSpPr/>
          <p:nvPr/>
        </p:nvCxnSpPr>
        <p:spPr>
          <a:xfrm rot="-5590789">
            <a:off x="6997700" y="4857574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EE7B7">
                <a:alpha val="9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31" name="AutoShape 31"/>
          <p:cNvSpPr/>
          <p:nvPr/>
        </p:nvSpPr>
        <p:spPr>
          <a:xfrm>
            <a:off x="635000" y="5029200"/>
            <a:ext cx="10922000" cy="914400"/>
          </a:xfrm>
          <a:prstGeom prst="roundRect">
            <a:avLst>
              <a:gd name="adj" fmla="val 13888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35000" y="5029200"/>
            <a:ext cx="1422400" cy="914400"/>
          </a:xfrm>
          <a:prstGeom prst="roundRect">
            <a:avLst>
              <a:gd name="adj" fmla="val 13888"/>
            </a:avLst>
          </a:prstGeom>
          <a:solidFill>
            <a:srgbClr val="10B98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11200" y="5181600"/>
            <a:ext cx="127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pi-ai · 模型流</a:t>
            </a:r>
            <a:endParaRPr lang="en-US" sz="1000" b="0" i="0" u="none" strike="noStrike">
              <a:solidFill>
                <a:srgbClr val="D1FAE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2260600" y="5181600"/>
            <a:ext cx="889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</a:t>
            </a: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streamText 发往供应商（Anthropic / OpenAI / 本地 Ollama …）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9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逐块返回 text-delta（文字）、tool-call（工具调用）、usage（token / 成本）；L2 与 L3 不感知是哪家模型</a:t>
            </a:r>
            <a:endParaRPr lang="en-US" sz="9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35000" y="5994400"/>
            <a:ext cx="10922000" cy="330200"/>
          </a:xfrm>
          <a:prstGeom prst="roundRect">
            <a:avLst>
              <a:gd name="adj" fmla="val 30769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38200" y="5994400"/>
            <a:ext cx="10515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层间契约：L3 装配 / 提供工具 / 持久化 / 界面　→　L2 跑循环 / 校验 / 发事件　→　L1 只做模型流；依赖自上而下单向，各层可独立替换或复用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048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全景速查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304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349500" y="279400"/>
            <a:ext cx="8636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六种扩展机制全景速查表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812800"/>
            <a:ext cx="10922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889000"/>
            <a:ext cx="10414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一张表看清六种机制在形态、可见性、触发方式、是否写代码、典型场景上的差别。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35000" y="1498600"/>
          <a:ext cx="10922000" cy="3708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1092200"/>
                <a:gridCol w="1320800"/>
                <a:gridCol w="1574800"/>
                <a:gridCol w="1092200"/>
                <a:gridCol w="3175000"/>
                <a:gridCol w="1016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机制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形态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模型可见性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触发方式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写代码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93C5F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AGENTS / SYSTEM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5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Markdown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5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93C5F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可见 · 常驻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5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启动自动加载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5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6EE7B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5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项目约定、系统人设、始终生效的规则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5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D8CA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Package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5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93C5F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Prompt 模板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Markdown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93C5F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可见 · 一次性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手动 /命令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6EE7B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复用一段提示 / 流程，可带参数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D8CA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Package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C4B5F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Skill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MD + 脚本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93C5F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可见 · 按需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自动匹配 / 手动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6EE7B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否为主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成体系操作手册：发布 / 迁移 / 脚手架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D8CA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Package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93C5F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Custom Tool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TypeScript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93C5F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可见 · 主动调用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模型自主调用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CD34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给模型新动作：调 API / 内部系统 / 计算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D8CA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Package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C4B5F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Extension / Hook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TypeScript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D8CA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不可见 · 幕后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生命周期事件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FCD34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权限门、RAG、压缩、MCP、子 agent、状态栏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D8CA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Package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>
                        <a:alpha val="12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Theme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配置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D8CA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不可见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启动生效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1" i="0" u="none" strike="noStrike">
                          <a:solidFill>
                            <a:srgbClr val="6EE7B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终端配色与外观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50" b="0" i="0" u="none" strike="noStrike">
                          <a:solidFill>
                            <a:srgbClr val="D8CAF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Package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635000" y="5384800"/>
            <a:ext cx="10922000" cy="660400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10B981">
                  <a:alpha val="14000"/>
                </a:srgbClr>
              </a:gs>
              <a:gs pos="50000">
                <a:srgbClr val="3B82F6">
                  <a:alpha val="14000"/>
                </a:srgbClr>
              </a:gs>
              <a:gs pos="100000">
                <a:srgbClr val="8B5CF6">
                  <a:alpha val="16000"/>
                </a:srgbClr>
              </a:gs>
            </a:gsLst>
            <a:lin ang="0"/>
          </a:gradFill>
          <a:ln w="12700" cap="flat" cmpd="sng">
            <a:solidFill>
              <a:srgbClr val="FFFFFF">
                <a:alpha val="1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63600" y="5384800"/>
            <a:ext cx="105156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5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要模型「知道 / 做到」</a:t>
            </a: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常驻 AGENTS · 手动 Prompt · 按需 Skill · 动作 Tool；</a:t>
            </a:r>
            <a:r>
              <a:rPr lang="en-US" sz="1050" b="0" i="0" u="none" strike="noStrike">
                <a:solidFill>
                  <a:srgbClr val="D8C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要在模型不知情下改行为</a:t>
            </a: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Extension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05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改外观 → Theme；要团队复用 / 公开发布任意机制 → 统一打成 Pi Package。</a:t>
            </a:r>
            <a:endParaRPr lang="en-US" sz="105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793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50000">
                <a:srgbClr val="3B82F6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4318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0" y="431800"/>
            <a:ext cx="76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889000"/>
            <a:ext cx="10160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 harness，改成你自己的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473200"/>
            <a:ext cx="10160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Primitives, not features — 四个要点回顾 Pi 的设计全貌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854200"/>
            <a:ext cx="2616200" cy="2108200"/>
          </a:xfrm>
          <a:prstGeom prst="roundRect">
            <a:avLst>
              <a:gd name="adj" fmla="val 6024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" y="1854200"/>
            <a:ext cx="26162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0828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19200" y="20828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极简内核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8200" y="2489200"/>
            <a:ext cx="22352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系统提示约 1k，给原语而非功能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不内建 MCP / 子 agent / 权限弹窗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可原地改写自身再 /reload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03600" y="1854200"/>
            <a:ext cx="2616200" cy="2108200"/>
          </a:xfrm>
          <a:prstGeom prst="roundRect">
            <a:avLst>
              <a:gd name="adj" fmla="val 6024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403600" y="1854200"/>
            <a:ext cx="2616200" cy="50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6800" y="20828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987800" y="20828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三层单向依赖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06800" y="2489200"/>
            <a:ext cx="22352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pi-ai</a:t>
            </a: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统一多模型流式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agent-core</a:t>
            </a: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循环 / 工具 / 事件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4B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coding-agent</a:t>
            </a: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运行时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72200" y="1854200"/>
            <a:ext cx="2616200" cy="2108200"/>
          </a:xfrm>
          <a:prstGeom prst="roundRect">
            <a:avLst>
              <a:gd name="adj" fmla="val 6024"/>
            </a:avLst>
          </a:prstGeom>
          <a:solidFill>
            <a:srgbClr val="22D3EE">
              <a:alpha val="1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172200" y="1854200"/>
            <a:ext cx="2616200" cy="50800"/>
          </a:xfrm>
          <a:prstGeom prst="roundRect">
            <a:avLst>
              <a:gd name="adj" fmla="val 5000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5400" y="20828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56400" y="20828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 Loop + 事件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75400" y="2489200"/>
            <a:ext cx="22352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turn：决策 → 工具 → 结果回灌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agent / turn / message / tool 四级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关键节点都能被钩子拦截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940800" y="1854200"/>
            <a:ext cx="2616200" cy="2108200"/>
          </a:xfrm>
          <a:prstGeom prst="roundRect">
            <a:avLst>
              <a:gd name="adj" fmla="val 6024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8B5C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940800" y="1854200"/>
            <a:ext cx="2616200" cy="50800"/>
          </a:xfrm>
          <a:prstGeom prst="roundRect">
            <a:avLst>
              <a:gd name="adj" fmla="val 5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0828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525000" y="20828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六扩展 · 两区分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44000" y="2489200"/>
            <a:ext cx="22352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可见：AGENTS / Prompt / Skill / Tool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幕后 Extension，外观 Theme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零代码 vs TS；Package 分发</a:t>
            </a:r>
            <a:endParaRPr lang="en-US" sz="10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5000" y="4140200"/>
            <a:ext cx="10922000" cy="78740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10B981">
                  <a:alpha val="12000"/>
                </a:srgbClr>
              </a:gs>
              <a:gs pos="50000">
                <a:srgbClr val="3B82F6">
                  <a:alpha val="12000"/>
                </a:srgbClr>
              </a:gs>
              <a:gs pos="100000">
                <a:srgbClr val="8B5CF6">
                  <a:alpha val="16000"/>
                </a:srgbClr>
              </a:gs>
            </a:gsLst>
            <a:lin ang="0"/>
          </a:gra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38200" y="4241800"/>
            <a:ext cx="10515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Change the harness, not your workflow.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8200" y="4622800"/>
            <a:ext cx="105156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There are many agent harnesses, but this one is yours.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" y="5105400"/>
            <a:ext cx="3505200" cy="965200"/>
          </a:xfrm>
          <a:prstGeom prst="roundRect">
            <a:avLst>
              <a:gd name="adj" fmla="val 1315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" y="53086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193800" y="5283200"/>
            <a:ext cx="2794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文档与指南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38200" y="5613400"/>
            <a:ext cx="31242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pi.dev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343400" y="5105400"/>
            <a:ext cx="3505200" cy="965200"/>
          </a:xfrm>
          <a:prstGeom prst="roundRect">
            <a:avLst>
              <a:gd name="adj" fmla="val 1315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46600" y="5308600"/>
            <a:ext cx="254000" cy="2540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4902200" y="5283200"/>
            <a:ext cx="2794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一键安装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546600" y="5613400"/>
            <a:ext cx="31242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E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npm i -g @mariozechner/pi-coding-agent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051800" y="5105400"/>
            <a:ext cx="3505200" cy="965200"/>
          </a:xfrm>
          <a:prstGeom prst="roundRect">
            <a:avLst>
              <a:gd name="adj" fmla="val 1315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55000" y="5308600"/>
            <a:ext cx="254000" cy="2540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8610600" y="5283200"/>
            <a:ext cx="2794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 · MIT / TypeScript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255000" y="5613400"/>
            <a:ext cx="31242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Mario Zechner（@badlogicgames）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16256</Words>
  <Application>WPS 演示</Application>
  <PresentationFormat/>
  <Paragraphs>1643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Arial</vt:lpstr>
      <vt:lpstr>宋体</vt:lpstr>
      <vt:lpstr>Wingdings</vt:lpstr>
      <vt:lpstr>Arial</vt:lpstr>
      <vt:lpstr>Noto Sans SC</vt:lpstr>
      <vt:lpstr>Calibri</vt:lpstr>
      <vt:lpstr>微软雅黑</vt:lpstr>
      <vt:lpstr>Arial Unicode MS</vt:lpstr>
      <vt:lpstr>Source Code Pro</vt:lpstr>
      <vt:lpstr>Liberation Mono</vt:lpstr>
      <vt:lpstr>Office 主题​​</vt:lpstr>
      <vt:lpstr>自定义主题</vt:lpstr>
      <vt:lpstr>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三旬</cp:lastModifiedBy>
  <cp:revision>9</cp:revision>
  <dcterms:created xsi:type="dcterms:W3CDTF">2026-09-20T02:31:00Z</dcterms:created>
  <dcterms:modified xsi:type="dcterms:W3CDTF">2026-09-21T03:21:09Z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{"Label":"1","ContentProducer":"001191110102MACQD9K64010000","ProduceID":"7687436416229690324","ReservedCode1":"","ContentPropagator":"","PropagateID":"","ReservedCode2":""}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399FF92615F84E3584611A40AB35A8FA_13</vt:lpwstr>
  </property>
</Properties>
</file>