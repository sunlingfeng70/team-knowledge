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</p:sldMasterIdLst>
  <p:notesMasterIdLst>
    <p:notesMasterId r:id="rId6"/>
  </p:notesMasterIdLst>
  <p:sldIdLst>
    <p:sldId id="256" r:id="rId5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793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大家好，今天分享 Pi 的三层核心架构设计。Pi 将一个完整的智能体系统拆分为三个层次：最底层 pi-ai 负责统一各家大模型的调用接口，中间层 pi-agent-core 是智能体的运行时引擎，最上层 pi-coding-agent 负责把引擎组装成用户可直接使用的编码智能体产品。这种分层设计让每一层都可以独立演进、替换和测试。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这一页展示 Pi 的整体三层架构。最底层 pi-ai 是模型抽象层，负责统一各家大模型的调用接口；中间层 pi-agent-core 是智能体运行时，提供多轮循环、工具调用和上下文管理的核心引擎；最上层 pi-coding-agent 是应用编排层，把引擎组装成用户可直接使用的编码智能体。三层之间通过统一的消息和事件交互，任一层更换实现都不会影响其他层。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pi-ai 是整个系统的最底层，负责统一各家大模型的调用接口。它解决的核心问题是：不同供应商的 API 格式、参数、响应结构都不一样，如果业务代码直接调用某家 API，切换模型时就需要大量改动。pi-ai 通过 Provider / Model / Models 三级对象模型，把这些差异屏蔽掉，上层只需要面向一种统一的「发消息、收流式回复」接口。同时它还统一处理鉴权、模型目录管理等横切关注点。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pi-ai 的实现核心是三个抽象：第一是三级对象模型，Provider 负责每家供应商的接入细节，Model 描述具体模型的元数据，Models 作为上层唯一入口，统一负责调用路由和鉴权。第二是统一消息模型，把各家不同的消息格式收敛为 user/assistant/tool 三类角色和 text/image/tool_use/tool_result 四种内容块。第三是流式响应抽象，把 SSE、分块传输等不同的流式协议统一为标准的事件流，上层只需要订阅事件就能实现打字机效果。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pi-agent-core 是智能体的运行时引擎，它解决的核心问题是：大模型本身是无状态的，一次请求只返回一条回复，怎么让它持续完成多步任务？答案是通过循环机制——调用模型、判断是否需要工具、执行工具、把结果回填、再调用模型，直到任务完成。同时它还负责工具调用的安全管控、状态管理和上下文压缩。运行时通过四级事件（agent/turn/message/tool）把内部状态暴露给上层，上层可以订阅这些事件来实现 UI 刷新、会话持久化等功能。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循环机制是 pi-agent-core 的核心。它采用双层循环设计：内层是工具循环，调用模型后判断回复中是否包含工具调用，如果有就执行工具、把结果回填到对话历史、再调用模型，直到模型不再调用工具；外层是消息循环，内层结束后检查是否有排队的后续消息，如果有就继续新一轮。Agent 状态机持有对话历史、工具集合、当前模型等状态，对外提供发消息、插话、中止等控制接口。整个过程通过 agent/turn/message/tool 四级事件对外广播，上层可以订阅这些事件来实现 UI 刷新、会话持久化等功能。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工具系统是 pi-agent-core 的另一个核心。每个工具由四要素定义：名称、描述、参数 schema 和执行函数。模型通过描述理解什么时候该调用这个工具，通过 schema 知道该传什么参数。工具调用走四步执行管线：第一步校验参数是否符合 schema，非法参数直接返回错误；第二步走拦截器链，可以做权限检查、审计、限流等；第三步调用执行函数，支持并行执行多个工具；第四步把执行结果回填到对话历史，供模型继续推理。关键设计包括并行工具调用提升效率、拦截器链保障安全、结构化错误处理让模型能自动重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上下文管理是 pi-agent-core 的第三个核心机制。它解决的问题是：每次请求到底给模型发什么？上下文太长了怎么办？答案是三重机制：第一是上下文组装，每次请求前把系统提示词、历史消息、工具定义三部分拼装起来；第二是消息投影，运行时内部有 bash 输出、压缩摘要、分支摘要等多种扩展消息类型，在进入模型前统一投影为标准的用户消息文本；第三是上下文压缩，当历史消息的 token 总数超过模型上下文窗口阈值时，自动把更早的对话压缩成摘要，只保留最近几轮的完整对话，这样既不超出窗口，又能保留关键信息。整个流程是：接收消息 → 消息投影 → 超长判断 → 上下文组装 → 调用模型。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pi-coding-agent 是最上层的应用编排层，它解决的核心问题是：pi-agent-core 只是一个引擎，不是一个可以直接使用的产品。应用编排层把引擎能力组装成完整的编码智能体产品，包含四大核心能力：第一是完整的 CLI 终端界面，用户可以直接在终端里和智能体对话；第二是系统提示词构建，把身份设定、工具清单、行为准则、项目说明、技能清单动态拼装起来，定义智能体的行为边界；第三是会话持久化，支持会话保存、恢复、分支、回溯，完整记录对话历史；第四是扩展系统，通过钩子、自定义命令、动态工具、技能等机制让用户可以按需扩展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pi-coding-agent 的实现核心是 AgentSession 编排核心，它订阅 pi-agent-core 运行时发出的四级事件，自动完成各类编排工作：会话持久化、扩展转发、压缩触发、错误重试、bash 执行等。发消息前还要完成三步预处理：命令展开（把斜杠命令和技能模板展开为实际消息）、鉴权校验（检查登录状态和 API Key）、模型校验（确认模型可用且能力匹配），然后才提交给运行时启动循环。系统提示词构建是另一个核心机制，每次请求前动态拼装身份设定、工具清单、行为准则、项目说明、技能清单五部分内容，让智能体在正确的约束下工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这一页展示三层如何协作完成一次完整的用户请求。整个流程分六步：第一步用户在 L3 输入，交互层接收指令、展开技能模板、校验登录和模型；第二步 L3 组装上下文，把系统提示词、历史对话、工具定义拼装起来；第三步 L2 启动循环，运行时进入双层循环开始多轮推理；第四步 L2 执行工具，模型声明工具调用时走校验、拦截、执行、回填的管线；第五步 L1 统一调用，模型层屏蔽供应商差异发出流式请求；第六步流式回流，事件自下而上回流，L3 渲染到终端并保存会话。最关键的设计原则是：三层之间只通过统一的消息和事件交互，任一层更换实现都不会影响其他层。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最后这一页是三层核心功能的速查表，方便快速回顾。pi-ai 是最底层的模型抽象层，核心功能是统一模型调用、多供应商支持、统一鉴权和模型目录管理；pi-agent-core 是中间层的智能体运行时，核心功能是多轮对话循环、工具调用、状态与事件、上下文管理；pi-coding-agent 是最上层的应用编排层，核心功能是完整 CLI、系统提示词构建、会话持久化和扩展系统。整个架构的设计哲学是自下而上逐层抽象、关注点分离、统一接口与事件，让每一层都可以独立替换和演进。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6" hasCustomPrompt="1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7" hasCustomPrompt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ctr" defTabSz="457200">
              <a:lnSpc>
                <a:spcPct val="100000"/>
              </a:lnSpc>
              <a:defRPr sz="3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  <a:spcBef>
                <a:spcPct val="20000"/>
              </a:spcBef>
            </a:pPr>
            <a:r>
              <a:rPr lang="en-US" sz="3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subtitle style</a:t>
            </a:r>
            <a:endParaRPr lang="en-US" sz="3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8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5" name="AutoShape 5"/>
          <p:cNvSpPr/>
          <p:nvPr>
            <p:ph type="body" sz="quarter" idx="9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10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1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12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3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13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5" name="AutoShape 5"/>
          <p:cNvSpPr/>
          <p:nvPr>
            <p:ph type="body" sz="quarter" idx="14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1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6" hasCustomPrompt="1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defRPr sz="4000" b="1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40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000" b="1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17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457200">
              <a:lnSpc>
                <a:spcPct val="100000"/>
              </a:lnSpc>
              <a:defRPr sz="20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20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20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18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5" name="AutoShape 5"/>
          <p:cNvSpPr/>
          <p:nvPr>
            <p:ph type="body" sz="quarter" idx="19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20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21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22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698500" indent="-355600" algn="l" defTabSz="457200">
              <a:lnSpc>
                <a:spcPct val="100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 marL="104775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2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1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1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23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698500" indent="-355600" algn="l" defTabSz="457200">
              <a:lnSpc>
                <a:spcPct val="100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 marL="104775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2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1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1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/>
          <p:nvPr>
            <p:ph type="body" sz="quarter" idx="2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6" name="AutoShape 6"/>
          <p:cNvSpPr/>
          <p:nvPr>
            <p:ph type="body" sz="quarter" idx="25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AutoShape 7"/>
          <p:cNvSpPr/>
          <p:nvPr>
            <p:ph type="body" sz="quarter" idx="26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27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28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457200">
              <a:lnSpc>
                <a:spcPct val="100000"/>
              </a:lnSpc>
              <a:defRPr sz="2400" b="1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24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2400" b="1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29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647700" indent="-304800" algn="l" defTabSz="457200">
              <a:lnSpc>
                <a:spcPct val="100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 marL="996950" indent="-254000"/>
            <a:lvl3pPr marL="1371600" indent="-228600"/>
            <a:lvl4pPr marL="1803400" indent="-203200"/>
            <a:lvl5pPr marL="2260600" indent="-203200"/>
            <a:lvl6pPr marL="2717800" indent="-203200"/>
            <a:lvl7pPr marL="3175000" indent="-203200"/>
            <a:lvl8pPr marL="3632200" indent="-203200"/>
            <a:lvl9pPr marL="4089400" indent="-2032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1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16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16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16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16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/>
          <p:nvPr>
            <p:ph type="body" sz="quarter" idx="30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 defTabSz="457200">
              <a:lnSpc>
                <a:spcPct val="100000"/>
              </a:lnSpc>
              <a:defRPr sz="2400" b="1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24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2400" b="1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31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647700" indent="-304800" algn="l" defTabSz="457200">
              <a:lnSpc>
                <a:spcPct val="100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 marL="996950" indent="-254000"/>
            <a:lvl3pPr marL="1371600" indent="-228600"/>
            <a:lvl4pPr marL="1803400" indent="-203200"/>
            <a:lvl5pPr marL="2260600" indent="-203200"/>
            <a:lvl6pPr marL="2717800" indent="-203200"/>
            <a:lvl7pPr marL="3175000" indent="-203200"/>
            <a:lvl8pPr marL="3632200" indent="-203200"/>
            <a:lvl9pPr marL="4089400" indent="-2032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1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16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16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16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16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AutoShape 7"/>
          <p:cNvSpPr/>
          <p:nvPr>
            <p:ph type="body" sz="quarter" idx="3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8" name="AutoShape 8"/>
          <p:cNvSpPr/>
          <p:nvPr>
            <p:ph type="body" sz="quarter" idx="33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" name="AutoShape 9"/>
          <p:cNvSpPr/>
          <p:nvPr>
            <p:ph type="body" sz="quarter" idx="3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35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36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4" name="AutoShape 4"/>
          <p:cNvSpPr/>
          <p:nvPr>
            <p:ph type="body" sz="quarter" idx="37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/>
          <p:nvPr>
            <p:ph type="body" sz="quarter" idx="38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39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3" name="AutoShape 3"/>
          <p:cNvSpPr/>
          <p:nvPr>
            <p:ph type="body" sz="quarter" idx="40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4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42" hasCustomPrompt="1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457200">
              <a:lnSpc>
                <a:spcPct val="100000"/>
              </a:lnSpc>
              <a:defRPr sz="2000" b="1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20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2000" b="1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43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3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44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defRPr sz="1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1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1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/>
          <p:nvPr>
            <p:ph type="body" sz="quarter" idx="45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6" name="AutoShape 6"/>
          <p:cNvSpPr/>
          <p:nvPr>
            <p:ph type="body" sz="quarter" idx="46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AutoShape 7"/>
          <p:cNvSpPr/>
          <p:nvPr>
            <p:ph type="body" sz="quarter" idx="47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48" hasCustomPrompt="1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457200">
              <a:lnSpc>
                <a:spcPct val="100000"/>
              </a:lnSpc>
              <a:defRPr sz="2000" b="1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20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2000" b="1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pic" sz="quarter" idx="49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4" name="AutoShape 4"/>
          <p:cNvSpPr/>
          <p:nvPr>
            <p:ph type="body" sz="quarter" idx="50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defRPr sz="1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1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1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/>
          <p:nvPr>
            <p:ph type="body" sz="quarter" idx="5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6" name="AutoShape 6"/>
          <p:cNvSpPr/>
          <p:nvPr>
            <p:ph type="body" sz="quarter" idx="52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AutoShape 7"/>
          <p:cNvSpPr/>
          <p:nvPr>
            <p:ph type="body" sz="quarter" idx="53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4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55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3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56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5" name="AutoShape 5"/>
          <p:cNvSpPr/>
          <p:nvPr>
            <p:ph type="body" sz="quarter" idx="57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58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9" hasCustomPrompt="1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60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3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6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5" name="AutoShape 5"/>
          <p:cNvSpPr/>
          <p:nvPr>
            <p:ph type="body" sz="quarter" idx="62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63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utoShape 1"/>
          <p:cNvSpPr/>
          <p:nvPr>
            <p:ph type="body" sz="quarter" idx="1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1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1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AutoShape 2"/>
          <p:cNvSpPr/>
          <p:nvPr>
            <p:ph type="body" sz="quarter" idx="2" hasCustomPrompt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3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3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4" name="AutoShape 4"/>
          <p:cNvSpPr/>
          <p:nvPr>
            <p:ph type="body" sz="quarter" idx="4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2.svg"/><Relationship Id="rId7" Type="http://schemas.openxmlformats.org/officeDocument/2006/relationships/image" Target="../media/image11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image" Target="../media/image8.sv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8.svg"/><Relationship Id="rId7" Type="http://schemas.openxmlformats.org/officeDocument/2006/relationships/image" Target="../media/image17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Relationship Id="rId3" Type="http://schemas.openxmlformats.org/officeDocument/2006/relationships/image" Target="../media/image13.png"/><Relationship Id="rId2" Type="http://schemas.openxmlformats.org/officeDocument/2006/relationships/image" Target="../media/image4.sv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20.svg"/><Relationship Id="rId3" Type="http://schemas.openxmlformats.org/officeDocument/2006/relationships/image" Target="../media/image19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Relationship Id="rId3" Type="http://schemas.openxmlformats.org/officeDocument/2006/relationships/image" Target="../media/image21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30.svg"/><Relationship Id="rId7" Type="http://schemas.openxmlformats.org/officeDocument/2006/relationships/image" Target="../media/image29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Relationship Id="rId3" Type="http://schemas.openxmlformats.org/officeDocument/2006/relationships/image" Target="../media/image25.png"/><Relationship Id="rId2" Type="http://schemas.openxmlformats.org/officeDocument/2006/relationships/image" Target="../media/image6.svg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50000">
              <a:srgbClr val="1E293B">
                <a:alpha val="100000"/>
              </a:srgbClr>
            </a:gs>
            <a:gs pos="100000">
              <a:srgbClr val="0F172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rot="-28647">
            <a:off x="9906026" y="755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0B981">
                <a:alpha val="4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" name="Connector 3"/>
          <p:cNvCxnSpPr/>
          <p:nvPr/>
        </p:nvCxnSpPr>
        <p:spPr>
          <a:xfrm rot="-38195">
            <a:off x="9906035" y="1009650"/>
            <a:ext cx="114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B82F6">
                <a:alpha val="4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" name="Connector 4"/>
          <p:cNvCxnSpPr/>
          <p:nvPr/>
        </p:nvCxnSpPr>
        <p:spPr>
          <a:xfrm rot="-57290">
            <a:off x="9906053" y="1263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8B5CF6">
                <a:alpha val="4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762000" y="762000"/>
            <a:ext cx="2032000" cy="406400"/>
          </a:xfrm>
          <a:prstGeom prst="roundRect">
            <a:avLst>
              <a:gd name="adj" fmla="val 50000"/>
            </a:avLst>
          </a:prstGeom>
          <a:solidFill>
            <a:srgbClr val="10B981">
              <a:alpha val="15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架构解析分享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1651000"/>
            <a:ext cx="8890000" cy="1016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 三层核心架构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730500"/>
            <a:ext cx="8890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从模型抽象到智能体运行时，再到应用编排的完整分层设计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24554">
            <a:off x="762023" y="35496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10B981">
                <a:alpha val="6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9" name="AutoShape 9"/>
          <p:cNvSpPr/>
          <p:nvPr/>
        </p:nvSpPr>
        <p:spPr>
          <a:xfrm>
            <a:off x="762000" y="3937000"/>
            <a:ext cx="10668000" cy="660400"/>
          </a:xfrm>
          <a:prstGeom prst="roundRect">
            <a:avLst>
              <a:gd name="adj" fmla="val 1923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3937000"/>
            <a:ext cx="76200" cy="660400"/>
          </a:xfrm>
          <a:prstGeom prst="roundRect">
            <a:avLst>
              <a:gd name="adj" fmla="val 5000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9500" y="40894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87500" y="3937000"/>
            <a:ext cx="2286000" cy="660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pi-ai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810000" y="3937000"/>
            <a:ext cx="7366000" cy="660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模型抽象层 · 统一多供应商模型接口，屏蔽 OpenAI / Anthropic / Google 等差异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762500"/>
            <a:ext cx="10668000" cy="660400"/>
          </a:xfrm>
          <a:prstGeom prst="roundRect">
            <a:avLst>
              <a:gd name="adj" fmla="val 19230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3B82F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62000" y="4762500"/>
            <a:ext cx="76200" cy="660400"/>
          </a:xfrm>
          <a:prstGeom prst="roundRect">
            <a:avLst>
              <a:gd name="adj" fmla="val 5000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9500" y="49149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87500" y="4762500"/>
            <a:ext cx="2540000" cy="660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pi-agent-core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064000" y="4762500"/>
            <a:ext cx="7112000" cy="660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智能体运行时 · 多轮对话循环、工具调用、状态与上下文管理的核心引擎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588000"/>
            <a:ext cx="10668000" cy="660400"/>
          </a:xfrm>
          <a:prstGeom prst="roundRect">
            <a:avLst>
              <a:gd name="adj" fmla="val 19230"/>
            </a:avLst>
          </a:prstGeom>
          <a:solidFill>
            <a:srgbClr val="8B5CF6">
              <a:alpha val="8000"/>
            </a:srgbClr>
          </a:solidFill>
          <a:ln w="12700" cap="flat" cmpd="sng">
            <a:solidFill>
              <a:srgbClr val="8B5CF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62000" y="5588000"/>
            <a:ext cx="76200" cy="660400"/>
          </a:xfrm>
          <a:prstGeom prst="roundRect">
            <a:avLst>
              <a:gd name="adj" fmla="val 5000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9500" y="57404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587500" y="5588000"/>
            <a:ext cx="2794000" cy="660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pi-coding-agent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318000" y="5588000"/>
            <a:ext cx="6858000" cy="660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应用编排层 · 将运行时组装为可用的编码智能体，提供 CLI 交互、会话与扩展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793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10B981">
                  <a:alpha val="100000"/>
                </a:srgbClr>
              </a:gs>
              <a:gs pos="50000">
                <a:srgbClr val="3B82F6">
                  <a:alpha val="100000"/>
                </a:srgbClr>
              </a:gs>
              <a:gs pos="100000">
                <a:srgbClr val="8B5CF6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1176000" y="304800"/>
            <a:ext cx="7620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35000" y="381000"/>
            <a:ext cx="5080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三层总览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35000" y="990600"/>
            <a:ext cx="10922000" cy="381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 将一个智能体拆分为三层，自下而上逐层抽象，每层职责清晰、可独立演进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1587500"/>
            <a:ext cx="10922000" cy="1333500"/>
          </a:xfrm>
          <a:prstGeom prst="roundRect">
            <a:avLst>
              <a:gd name="adj" fmla="val 11428"/>
            </a:avLst>
          </a:prstGeom>
          <a:solidFill>
            <a:srgbClr val="8B5CF6">
              <a:alpha val="10000"/>
            </a:srgbClr>
          </a:solidFill>
          <a:ln w="12700" cap="flat" cmpd="sng">
            <a:solidFill>
              <a:srgbClr val="8B5CF6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35000" y="1587500"/>
            <a:ext cx="101600" cy="1333500"/>
          </a:xfrm>
          <a:prstGeom prst="roundRect">
            <a:avLst>
              <a:gd name="adj" fmla="val 5000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841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87500" y="1752600"/>
            <a:ext cx="3810000" cy="355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 3 层 · pi-coding-agent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587500" y="2159000"/>
            <a:ext cx="1270000" cy="304800"/>
          </a:xfrm>
          <a:prstGeom prst="roundRect">
            <a:avLst>
              <a:gd name="adj" fmla="val 50000"/>
            </a:avLst>
          </a:prstGeom>
          <a:solidFill>
            <a:srgbClr val="8B5CF6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应用编排层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048000" y="2133600"/>
            <a:ext cx="8255000" cy="355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将运行时组装为可用的编码智能体：交互界面、系统提示、会话持久化、技能与扩展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587500" y="2514600"/>
            <a:ext cx="96520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核心模块：完整 CLI · 系统提示词构建 · AgentSession 编排 · 会话保存/恢复/分支 · 钩子与自定义命令 · 动态工具与技能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842000" y="2946400"/>
            <a:ext cx="508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4A3B8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↓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35000" y="3238500"/>
            <a:ext cx="10922000" cy="1333500"/>
          </a:xfrm>
          <a:prstGeom prst="roundRect">
            <a:avLst>
              <a:gd name="adj" fmla="val 11428"/>
            </a:avLst>
          </a:prstGeom>
          <a:solidFill>
            <a:srgbClr val="3B82F6">
              <a:alpha val="10000"/>
            </a:srgbClr>
          </a:solidFill>
          <a:ln w="12700" cap="flat" cmpd="sng">
            <a:solidFill>
              <a:srgbClr val="3B82F6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35000" y="3238500"/>
            <a:ext cx="101600" cy="1333500"/>
          </a:xfrm>
          <a:prstGeom prst="roundRect">
            <a:avLst>
              <a:gd name="adj" fmla="val 5000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4925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87500" y="3403600"/>
            <a:ext cx="4318000" cy="355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 2 层 · pi-agent-core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587500" y="3810000"/>
            <a:ext cx="1270000" cy="304800"/>
          </a:xfrm>
          <a:prstGeom prst="roundRect">
            <a:avLst>
              <a:gd name="adj" fmla="val 50000"/>
            </a:avLst>
          </a:prstGeom>
          <a:solidFill>
            <a:srgbClr val="3B82F6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智能体运行时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048000" y="3784600"/>
            <a:ext cx="8255000" cy="355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智能体引擎：多轮对话循环、工具调用、状态与上下文管理，驱动模型持续完成任务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587500" y="4165600"/>
            <a:ext cx="96520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核心模块：Agent 状态机 · 双层循环（内层工具循环 + 外层消息循环）· 工具执行管线 · 四级事件流 · 上下文组装与压缩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842000" y="4597400"/>
            <a:ext cx="508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4A3B8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↓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35000" y="4889500"/>
            <a:ext cx="10922000" cy="1333500"/>
          </a:xfrm>
          <a:prstGeom prst="roundRect">
            <a:avLst>
              <a:gd name="adj" fmla="val 11428"/>
            </a:avLst>
          </a:prstGeom>
          <a:solidFill>
            <a:srgbClr val="10B981">
              <a:alpha val="10000"/>
            </a:srgbClr>
          </a:solidFill>
          <a:ln w="12700" cap="flat" cmpd="sng">
            <a:solidFill>
              <a:srgbClr val="10B981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35000" y="4889500"/>
            <a:ext cx="101600" cy="1333500"/>
          </a:xfrm>
          <a:prstGeom prst="roundRect">
            <a:avLst>
              <a:gd name="adj" fmla="val 5000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1435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587500" y="5054600"/>
            <a:ext cx="3810000" cy="355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 1 层 · pi-ai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1587500" y="5461000"/>
            <a:ext cx="1270000" cy="304800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模型抽象层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3048000" y="5435600"/>
            <a:ext cx="8255000" cy="355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统一多供应商模型接口：屏蔽 OpenAI / Anthropic / Google 等差异，提供一致的调用方式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587500" y="5816600"/>
            <a:ext cx="96520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核心模块：三级对象模型（Provider / Model / Models）· 统一消息模型 · 40+ 供应商接入 · API Key 与 OAuth 鉴权 · 模型目录管理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793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3048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0B981">
              <a:alpha val="15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 1 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176000" y="304800"/>
            <a:ext cx="762000" cy="355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841500" y="279400"/>
            <a:ext cx="6350000" cy="40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pi-ai · 是什么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889000"/>
            <a:ext cx="10922000" cy="1016000"/>
          </a:xfrm>
          <a:prstGeom prst="roundRect">
            <a:avLst>
              <a:gd name="adj" fmla="val 1250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9000" y="990600"/>
            <a:ext cx="10414000" cy="330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统一的多供应商模型接口层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1346200"/>
            <a:ext cx="10414000" cy="482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上层只面向一种模型调用方式，不感知底层供应商（OpenAI / Anthropic / Google 等）差异，实现业务代码与模型供应商的彻底解耦。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" y="2133600"/>
            <a:ext cx="26035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35000" y="2133600"/>
            <a:ext cx="2603500" cy="50800"/>
          </a:xfrm>
          <a:prstGeom prst="roundRect">
            <a:avLst>
              <a:gd name="adj" fmla="val 5000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9000" y="23495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889000" y="2794000"/>
            <a:ext cx="21590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统一模型调用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89000" y="3149600"/>
            <a:ext cx="2159000" cy="889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统一的「发消息 → 收流式回复」接口，屏蔽各供应商 API 格式、参数命名、响应结构的差异。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403600" y="2133600"/>
            <a:ext cx="26035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3403600" y="2133600"/>
            <a:ext cx="2603500" cy="50800"/>
          </a:xfrm>
          <a:prstGeom prst="roundRect">
            <a:avLst>
              <a:gd name="adj" fmla="val 5000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00" y="23495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3657600" y="2794000"/>
            <a:ext cx="21590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多供应商支持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3657600" y="3149600"/>
            <a:ext cx="2159000" cy="889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内置 40+ 供应商，切换模型仅更换配置，业务代码零改动。支持 OpenAI、Anthropic、Google 等主流厂商。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172200" y="2133600"/>
            <a:ext cx="26035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172200" y="2133600"/>
            <a:ext cx="2603500" cy="50800"/>
          </a:xfrm>
          <a:prstGeom prst="roundRect">
            <a:avLst>
              <a:gd name="adj" fmla="val 5000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26200" y="23495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426200" y="2794000"/>
            <a:ext cx="21590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统一鉴权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26200" y="3149600"/>
            <a:ext cx="2159000" cy="889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 API Key 与 OAuth 两种鉴权方式，凭据本地安全存储，Token 过期自动刷新，无需上层关心。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940800" y="2133600"/>
            <a:ext cx="26162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940800" y="2133600"/>
            <a:ext cx="2616200" cy="50800"/>
          </a:xfrm>
          <a:prstGeom prst="roundRect">
            <a:avLst>
              <a:gd name="adj" fmla="val 5000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94800" y="2349500"/>
            <a:ext cx="355600" cy="3556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9194800" y="2794000"/>
            <a:ext cx="21590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模型目录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194800" y="3149600"/>
            <a:ext cx="2159000" cy="889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可用模型清单的生成、离线缓存与增量更新。记录每个模型的上下文窗口、价格、能力标签。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35000" y="4419600"/>
            <a:ext cx="10922000" cy="2133600"/>
          </a:xfrm>
          <a:prstGeom prst="roundRect">
            <a:avLst>
              <a:gd name="adj" fmla="val 5952"/>
            </a:avLst>
          </a:prstGeom>
          <a:solidFill>
            <a:srgbClr val="FFFFFF">
              <a:alpha val="3000"/>
            </a:srgbClr>
          </a:solidFill>
          <a:ln w="12700" cap="flat" cmpd="sng">
            <a:solidFill>
              <a:srgbClr val="FFFFFF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889000" y="4546600"/>
            <a:ext cx="25400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解决的核心问题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952500" y="5029200"/>
            <a:ext cx="101600" cy="1016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1181100" y="4927600"/>
            <a:ext cx="10160000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供应商接口各异且互不兼容</a:t>
            </a: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—— OpenAI 用 /v1/chat/completions，Anthropic 用 /v1/messages，Google 用 generateContent，参数和响应结构完全不同。本层将其收敛为同一种抽象。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952500" y="5588000"/>
            <a:ext cx="101600" cy="1016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1181100" y="5486400"/>
            <a:ext cx="10160000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上层与供应商强耦合</a:t>
            </a: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—— 业务代码直接调用某家 API 后，切换模型需要大量改动。本层让运行时、应用与供应商解耦，可自由切换与横向扩展。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952500" y="6146800"/>
            <a:ext cx="101600" cy="1016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1181100" y="6045200"/>
            <a:ext cx="10160000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鉴权与凭据管理分散</a:t>
            </a: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—— 每家供应商有不同的鉴权方式和 Token 生命周期。本层统一处理 API Key / OAuth，凭据本地存储、过期自动刷新。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793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3048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0B981">
              <a:alpha val="15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 1 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176000" y="304800"/>
            <a:ext cx="762000" cy="355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841500" y="279400"/>
            <a:ext cx="6350000" cy="40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pi-ai · 怎么实现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889000"/>
            <a:ext cx="10922000" cy="635000"/>
          </a:xfrm>
          <a:prstGeom prst="roundRect">
            <a:avLst>
              <a:gd name="adj" fmla="val 1600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9000" y="889000"/>
            <a:ext cx="10414000" cy="635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核心问题：</a:t>
            </a:r>
            <a:r>
              <a:rPr 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几十家供应商接口各异，如何收敛为统一接口？答案是通过三级对象模型 + 统一消息模型 + 流式响应抽象。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" y="1752600"/>
            <a:ext cx="5334000" cy="4699000"/>
          </a:xfrm>
          <a:prstGeom prst="roundRect">
            <a:avLst>
              <a:gd name="adj" fmla="val 2702"/>
            </a:avLst>
          </a:prstGeom>
          <a:solidFill>
            <a:srgbClr val="FFFFFF">
              <a:alpha val="3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89000" y="1905000"/>
            <a:ext cx="4826000" cy="355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三级对象模型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89000" y="2260600"/>
            <a:ext cx="4826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Provider / Model / Models，上层仅面向 Models 抽象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89000" y="2667000"/>
            <a:ext cx="4826000" cy="1079500"/>
          </a:xfrm>
          <a:prstGeom prst="roundRect">
            <a:avLst>
              <a:gd name="adj" fmla="val 9411"/>
            </a:avLst>
          </a:prstGeom>
          <a:solidFill>
            <a:srgbClr val="10B981">
              <a:alpha val="6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89000" y="2667000"/>
            <a:ext cx="50800" cy="1079500"/>
          </a:xfrm>
          <a:prstGeom prst="roundRect">
            <a:avLst>
              <a:gd name="adj" fmla="val 5000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117600" y="2768600"/>
            <a:ext cx="25400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Provider · 供应商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117600" y="3098800"/>
            <a:ext cx="4445000" cy="5715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定义供应商的接入方式：API 端点、鉴权机制、请求/响应格式转换。每家供应商一个 Provider 实现。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89000" y="3911600"/>
            <a:ext cx="4826000" cy="1079500"/>
          </a:xfrm>
          <a:prstGeom prst="roundRect">
            <a:avLst>
              <a:gd name="adj" fmla="val 9411"/>
            </a:avLst>
          </a:prstGeom>
          <a:solidFill>
            <a:srgbClr val="10B981">
              <a:alpha val="6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89000" y="3911600"/>
            <a:ext cx="50800" cy="1079500"/>
          </a:xfrm>
          <a:prstGeom prst="roundRect">
            <a:avLst>
              <a:gd name="adj" fmla="val 5000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117600" y="4013200"/>
            <a:ext cx="25400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Model · 具体模型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117600" y="4343400"/>
            <a:ext cx="4445000" cy="5715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描述具体模型的元数据：上下文窗口大小、输入输出价格、能力标签（视觉/工具调用/流式）。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89000" y="5156200"/>
            <a:ext cx="4826000" cy="1079500"/>
          </a:xfrm>
          <a:prstGeom prst="roundRect">
            <a:avLst>
              <a:gd name="adj" fmla="val 9411"/>
            </a:avLst>
          </a:prstGeom>
          <a:solidFill>
            <a:srgbClr val="10B981">
              <a:alpha val="10000"/>
            </a:srgbClr>
          </a:solidFill>
          <a:ln w="12700" cap="flat" cmpd="sng">
            <a:solidFill>
              <a:srgbClr val="10B981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89000" y="5156200"/>
            <a:ext cx="50800" cy="1079500"/>
          </a:xfrm>
          <a:prstGeom prst="roundRect">
            <a:avLst>
              <a:gd name="adj" fmla="val 5000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1117600" y="5257800"/>
            <a:ext cx="35560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Models · 模型集合（上层入口）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117600" y="5588000"/>
            <a:ext cx="4445000" cy="5715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统一负责调用路由、鉴权管理、目录查询。上层仅面向 Models 这一抽象，不感知具体 Provider。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223000" y="1752600"/>
            <a:ext cx="5334000" cy="2222500"/>
          </a:xfrm>
          <a:prstGeom prst="roundRect">
            <a:avLst>
              <a:gd name="adj" fmla="val 5714"/>
            </a:avLst>
          </a:prstGeom>
          <a:solidFill>
            <a:srgbClr val="FFFFFF">
              <a:alpha val="3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477000" y="1905000"/>
            <a:ext cx="4826000" cy="355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统一消息模型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477000" y="2260600"/>
            <a:ext cx="4826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三类角色 · 四种内容块，屏蔽各家消息格式差异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477000" y="2641600"/>
            <a:ext cx="1524000" cy="406400"/>
          </a:xfrm>
          <a:prstGeom prst="roundRect">
            <a:avLst>
              <a:gd name="adj" fmla="val 18750"/>
            </a:avLst>
          </a:prstGeom>
          <a:solidFill>
            <a:srgbClr val="10B981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user · 用户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128000" y="2641600"/>
            <a:ext cx="1524000" cy="406400"/>
          </a:xfrm>
          <a:prstGeom prst="roundRect">
            <a:avLst>
              <a:gd name="adj" fmla="val 18750"/>
            </a:avLst>
          </a:prstGeom>
          <a:solidFill>
            <a:srgbClr val="3B82F6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assistant · 助手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779000" y="2641600"/>
            <a:ext cx="1524000" cy="406400"/>
          </a:xfrm>
          <a:prstGeom prst="roundRect">
            <a:avLst>
              <a:gd name="adj" fmla="val 18750"/>
            </a:avLst>
          </a:prstGeom>
          <a:solidFill>
            <a:srgbClr val="8B5CF6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tool · 工具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477000" y="3200400"/>
            <a:ext cx="4826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四种内容块：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477000" y="3479800"/>
            <a:ext cx="4826000" cy="381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text</a:t>
            </a: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文本 · </a:t>
            </a: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image</a:t>
            </a: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图片 · </a:t>
            </a: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tool_use</a:t>
            </a: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工具调用 · </a:t>
            </a: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tool_result</a:t>
            </a: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工具结果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223000" y="4229100"/>
            <a:ext cx="5334000" cy="2222500"/>
          </a:xfrm>
          <a:prstGeom prst="roundRect">
            <a:avLst>
              <a:gd name="adj" fmla="val 5714"/>
            </a:avLst>
          </a:prstGeom>
          <a:solidFill>
            <a:srgbClr val="FFFFFF">
              <a:alpha val="3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6477000" y="4381500"/>
            <a:ext cx="4826000" cy="355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流式响应抽象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477000" y="4737100"/>
            <a:ext cx="4826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统一的事件流，屏蔽 SSE / 分块传输等差异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477000" y="5118100"/>
            <a:ext cx="2349500" cy="508000"/>
          </a:xfrm>
          <a:prstGeom prst="roundRect">
            <a:avLst>
              <a:gd name="adj" fmla="val 1500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message_start</a:t>
            </a:r>
            <a:b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回复开始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8953500" y="5118100"/>
            <a:ext cx="2349500" cy="508000"/>
          </a:xfrm>
          <a:prstGeom prst="roundRect">
            <a:avLst>
              <a:gd name="adj" fmla="val 1500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content_block_delta</a:t>
            </a:r>
            <a:b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文本增量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6477000" y="5753100"/>
            <a:ext cx="2349500" cy="508000"/>
          </a:xfrm>
          <a:prstGeom prst="roundRect">
            <a:avLst>
              <a:gd name="adj" fmla="val 1500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tool_use</a:t>
            </a:r>
            <a:b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工具调用声明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8953500" y="5753100"/>
            <a:ext cx="2349500" cy="508000"/>
          </a:xfrm>
          <a:prstGeom prst="roundRect">
            <a:avLst>
              <a:gd name="adj" fmla="val 1500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message_stop</a:t>
            </a:r>
            <a:b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回复结束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793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3048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 w="12700" cap="flat" cmpd="sng">
            <a:solidFill>
              <a:srgbClr val="3B82F6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 2 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176000" y="304800"/>
            <a:ext cx="762000" cy="355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841500" y="279400"/>
            <a:ext cx="6350000" cy="40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pi-agent-core · 是什么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889000"/>
            <a:ext cx="10922000" cy="1016000"/>
          </a:xfrm>
          <a:prstGeom prst="roundRect">
            <a:avLst>
              <a:gd name="adj" fmla="val 12500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3B82F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9000" y="990600"/>
            <a:ext cx="10414000" cy="330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智能体运行时：智能体的「引擎」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1346200"/>
            <a:ext cx="10414000" cy="482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负责多轮对话循环、工具调用、状态与上下文管理，驱动模型持续完成任务。它接收用户消息，调用模型，执行工具，直到任务完成，是整个智能体的核心驱动力。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" y="2133600"/>
            <a:ext cx="26035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35000" y="2133600"/>
            <a:ext cx="2603500" cy="50800"/>
          </a:xfrm>
          <a:prstGeom prst="roundRect">
            <a:avLst>
              <a:gd name="adj" fmla="val 5000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9000" y="23495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889000" y="2794000"/>
            <a:ext cx="21590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多轮对话循环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89000" y="3149600"/>
            <a:ext cx="2159000" cy="889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一轮 = 一次模型回复 + 触发的全部工具调用。支持插话与后续继续，实现真正的多轮交互。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403600" y="2133600"/>
            <a:ext cx="26035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3403600" y="2133600"/>
            <a:ext cx="2603500" cy="50800"/>
          </a:xfrm>
          <a:prstGeom prst="roundRect">
            <a:avLst>
              <a:gd name="adj" fmla="val 5000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00" y="23495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3657600" y="2794000"/>
            <a:ext cx="21590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工具调用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3657600" y="3149600"/>
            <a:ext cx="2159000" cy="889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参数校验 → 拦截 → 执行 → 结果回填的完整管线。支持并行工具调用，提升执行效率。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172200" y="2133600"/>
            <a:ext cx="26035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172200" y="2133600"/>
            <a:ext cx="2603500" cy="50800"/>
          </a:xfrm>
          <a:prstGeom prst="roundRect">
            <a:avLst>
              <a:gd name="adj" fmla="val 5000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26200" y="23495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426200" y="2794000"/>
            <a:ext cx="21590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状态与事件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26200" y="3149600"/>
            <a:ext cx="2159000" cy="889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持有对话 / 工具 / 模型状态，发出 agent/turn/message/tool 四级事件，供上层订阅。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940800" y="2133600"/>
            <a:ext cx="26162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940800" y="2133600"/>
            <a:ext cx="2616200" cy="50800"/>
          </a:xfrm>
          <a:prstGeom prst="roundRect">
            <a:avLst>
              <a:gd name="adj" fmla="val 5000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94800" y="2349500"/>
            <a:ext cx="355600" cy="3556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9194800" y="2794000"/>
            <a:ext cx="21590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上下文管理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194800" y="3149600"/>
            <a:ext cx="2159000" cy="889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消息投影、上下文组装与超长压缩。确保每次请求携带正确的上下文，不超出模型窗口。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35000" y="4419600"/>
            <a:ext cx="10922000" cy="2133600"/>
          </a:xfrm>
          <a:prstGeom prst="roundRect">
            <a:avLst>
              <a:gd name="adj" fmla="val 5952"/>
            </a:avLst>
          </a:prstGeom>
          <a:solidFill>
            <a:srgbClr val="FFFFFF">
              <a:alpha val="3000"/>
            </a:srgbClr>
          </a:solidFill>
          <a:ln w="12700" cap="flat" cmpd="sng">
            <a:solidFill>
              <a:srgbClr val="FFFFFF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889000" y="4546600"/>
            <a:ext cx="25400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解决的核心问题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952500" y="5029200"/>
            <a:ext cx="101600" cy="101600"/>
          </a:xfrm>
          <a:prstGeom prst="ellipse">
            <a:avLst/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1181100" y="4927600"/>
            <a:ext cx="10160000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模型只能单轮回复</a:t>
            </a: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—— 大模型本身是无状态的，一次请求只返回一条回复。运行时通过循环机制，让模型不断调用工具、观察结果、继续推理，直到完成多步任务。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952500" y="5588000"/>
            <a:ext cx="101600" cy="101600"/>
          </a:xfrm>
          <a:prstGeom prst="ellipse">
            <a:avLst/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1181100" y="5486400"/>
            <a:ext cx="10160000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工具调用缺乏安全管控</a:t>
            </a: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—— 模型可能发起非法或危险的工具调用。运行时通过参数校验、拦截器、执行权限等机制，确保工具调用安全可控。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952500" y="6146800"/>
            <a:ext cx="101600" cy="101600"/>
          </a:xfrm>
          <a:prstGeom prst="ellipse">
            <a:avLst/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1181100" y="6045200"/>
            <a:ext cx="10160000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上下文窗口有限</a:t>
            </a: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—— 多轮对话会迅速耗尽模型的上下文窗口。运行时通过消息投影、摘要压缩等策略，在有限窗口内保留最重要的信息。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793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3048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 w="12700" cap="flat" cmpd="sng">
            <a:solidFill>
              <a:srgbClr val="3B82F6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 2 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176000" y="304800"/>
            <a:ext cx="762000" cy="355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841500" y="279400"/>
            <a:ext cx="7620000" cy="40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pi-agent-core · 怎么实现（一）循环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889000"/>
            <a:ext cx="10922000" cy="635000"/>
          </a:xfrm>
          <a:prstGeom prst="roundRect">
            <a:avLst>
              <a:gd name="adj" fmla="val 16000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9000" y="889000"/>
            <a:ext cx="10414000" cy="635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核心问题：</a:t>
            </a:r>
            <a:r>
              <a:rPr 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模型单次仅返回一条回复，如何驱动其持续完成多步任务？通过 Agent 状态机 + 双层循环实现。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" y="1752600"/>
            <a:ext cx="5334000" cy="2222500"/>
          </a:xfrm>
          <a:prstGeom prst="roundRect">
            <a:avLst>
              <a:gd name="adj" fmla="val 5714"/>
            </a:avLst>
          </a:prstGeom>
          <a:solidFill>
            <a:srgbClr val="FFFFFF">
              <a:alpha val="3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89000" y="1905000"/>
            <a:ext cx="3810000" cy="355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 状态机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99000" y="193040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状态 + 订阅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89000" y="2349500"/>
            <a:ext cx="4826000" cy="14605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持有的状态：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对话历史（消息列表）</a:t>
            </a:r>
            <a:endParaRPr lang="en-US" sz="12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工具集合（可用工具定义）</a:t>
            </a:r>
            <a:endParaRPr lang="en-US" sz="12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当前模型（Model 实例）</a:t>
            </a:r>
            <a:endParaRPr lang="en-US" sz="12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思考等级（思考深度配置）</a:t>
            </a:r>
            <a:endParaRPr lang="en-US" sz="12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控制接口：</a:t>
            </a: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发消息、插话、中止、等待空闲</a:t>
            </a:r>
            <a:endParaRPr lang="en-US" sz="12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223000" y="1752600"/>
            <a:ext cx="5334000" cy="2222500"/>
          </a:xfrm>
          <a:prstGeom prst="roundRect">
            <a:avLst>
              <a:gd name="adj" fmla="val 5714"/>
            </a:avLst>
          </a:prstGeom>
          <a:solidFill>
            <a:srgbClr val="FFFFFF">
              <a:alpha val="3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477000" y="1905000"/>
            <a:ext cx="3810000" cy="355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双层循环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287000" y="193040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内层 + 外层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77000" y="2387600"/>
            <a:ext cx="4826000" cy="698500"/>
          </a:xfrm>
          <a:prstGeom prst="roundRect">
            <a:avLst>
              <a:gd name="adj" fmla="val 10909"/>
            </a:avLst>
          </a:prstGeom>
          <a:solidFill>
            <a:srgbClr val="3B82F6">
              <a:alpha val="6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667500" y="2438400"/>
            <a:ext cx="4572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内层循环（工具循环）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667500" y="2692400"/>
            <a:ext cx="4572000" cy="355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调用模型 → 判断是否含工具调用 → 执行工具 → 结果回填 → 再次调用，直至无工具调用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3200400"/>
            <a:ext cx="4826000" cy="698500"/>
          </a:xfrm>
          <a:prstGeom prst="roundRect">
            <a:avLst>
              <a:gd name="adj" fmla="val 10909"/>
            </a:avLst>
          </a:prstGeom>
          <a:solidFill>
            <a:srgbClr val="3B82F6">
              <a:alpha val="6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667500" y="3251200"/>
            <a:ext cx="4572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外层循环（消息循环）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667500" y="3505200"/>
            <a:ext cx="4572000" cy="355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内层结束后检查排队的后续消息，存在则继续新一轮。一轮（turn）= 一次模型回复 + 该回复触发的全部工具调用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35000" y="4229100"/>
            <a:ext cx="10922000" cy="2324100"/>
          </a:xfrm>
          <a:prstGeom prst="roundRect">
            <a:avLst>
              <a:gd name="adj" fmla="val 5464"/>
            </a:avLst>
          </a:prstGeom>
          <a:solidFill>
            <a:srgbClr val="FFFFFF">
              <a:alpha val="3000"/>
            </a:srgbClr>
          </a:solidFill>
          <a:ln w="12700" cap="flat" cmpd="sng">
            <a:solidFill>
              <a:srgbClr val="FFFFFF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89000" y="4381500"/>
            <a:ext cx="3810000" cy="355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事件流 · 四级生命周期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89000" y="4737100"/>
            <a:ext cx="10414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运行时以四级事件对外广播进展，供界面刷新、会话持久化、扩展响应统一订阅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89000" y="5143500"/>
            <a:ext cx="2476500" cy="1206500"/>
          </a:xfrm>
          <a:prstGeom prst="roundRect">
            <a:avLst>
              <a:gd name="adj" fmla="val 8421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3B82F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1079500" y="5270500"/>
            <a:ext cx="21590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 级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1079500" y="5613400"/>
            <a:ext cx="2159000" cy="635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整个智能体的生命周期：启动、空闲、忙碌、中止、结束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3530600" y="5143500"/>
            <a:ext cx="2476500" cy="1206500"/>
          </a:xfrm>
          <a:prstGeom prst="roundRect">
            <a:avLst>
              <a:gd name="adj" fmla="val 8421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3B82F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3721100" y="5270500"/>
            <a:ext cx="21590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turn 级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3721100" y="5613400"/>
            <a:ext cx="2159000" cy="635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一轮对话的开始与结束：包含一次模型回复及全部工具调用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172200" y="5143500"/>
            <a:ext cx="2476500" cy="1206500"/>
          </a:xfrm>
          <a:prstGeom prst="roundRect">
            <a:avLst>
              <a:gd name="adj" fmla="val 8421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3B82F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6362700" y="5270500"/>
            <a:ext cx="21590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message 级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362700" y="5613400"/>
            <a:ext cx="2159000" cy="635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单条消息的流式增量：文本块开始、内容 delta、结束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813800" y="5143500"/>
            <a:ext cx="2476500" cy="1206500"/>
          </a:xfrm>
          <a:prstGeom prst="roundRect">
            <a:avLst>
              <a:gd name="adj" fmla="val 8421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3B82F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9004300" y="5270500"/>
            <a:ext cx="21590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tool 级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9004300" y="5613400"/>
            <a:ext cx="2159000" cy="635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单次工具调用：调用声明、参数校验、执行开始、结果回填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793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3048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 w="12700" cap="flat" cmpd="sng">
            <a:solidFill>
              <a:srgbClr val="3B82F6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 2 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176000" y="304800"/>
            <a:ext cx="762000" cy="355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841500" y="279400"/>
            <a:ext cx="7620000" cy="40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pi-agent-core · 怎么实现（二）工具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889000"/>
            <a:ext cx="10922000" cy="635000"/>
          </a:xfrm>
          <a:prstGeom prst="roundRect">
            <a:avLst>
              <a:gd name="adj" fmla="val 16000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9000" y="889000"/>
            <a:ext cx="10414000" cy="635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核心问题：</a:t>
            </a:r>
            <a:r>
              <a:rPr 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模型发起工具调用时，如何安全、可控地执行？通过标准化的工具定义 + 四步执行管线实现。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" y="1752600"/>
            <a:ext cx="5334000" cy="2222500"/>
          </a:xfrm>
          <a:prstGeom prst="roundRect">
            <a:avLst>
              <a:gd name="adj" fmla="val 5714"/>
            </a:avLst>
          </a:prstGeom>
          <a:solidFill>
            <a:srgbClr val="FFFFFF">
              <a:alpha val="3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89000" y="1905000"/>
            <a:ext cx="3810000" cy="355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工具定义 · 四要素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89000" y="2260600"/>
            <a:ext cx="4826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每个工具由四部分构成，模型通过描述和 schema 理解如何调用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89000" y="2641600"/>
            <a:ext cx="2286000" cy="533400"/>
          </a:xfrm>
          <a:prstGeom prst="roundRect">
            <a:avLst>
              <a:gd name="adj" fmla="val 14285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016000" y="2692400"/>
            <a:ext cx="2032000" cy="228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name · 名称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16000" y="2921000"/>
            <a:ext cx="2032000" cy="203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工具的唯一标识符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302000" y="2641600"/>
            <a:ext cx="2413000" cy="533400"/>
          </a:xfrm>
          <a:prstGeom prst="roundRect">
            <a:avLst>
              <a:gd name="adj" fmla="val 14285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3429000" y="2692400"/>
            <a:ext cx="2159000" cy="228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description · 描述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429000" y="2921000"/>
            <a:ext cx="2159000" cy="203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供模型理解调用时机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89000" y="3276600"/>
            <a:ext cx="2286000" cy="533400"/>
          </a:xfrm>
          <a:prstGeom prst="roundRect">
            <a:avLst>
              <a:gd name="adj" fmla="val 14285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016000" y="3327400"/>
            <a:ext cx="2032000" cy="228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schema · 参数结构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16000" y="3556000"/>
            <a:ext cx="2032000" cy="203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JSON Schema 定义参数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302000" y="3276600"/>
            <a:ext cx="2413000" cy="533400"/>
          </a:xfrm>
          <a:prstGeom prst="roundRect">
            <a:avLst>
              <a:gd name="adj" fmla="val 14285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3429000" y="3327400"/>
            <a:ext cx="2159000" cy="228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execute · 执行函数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429000" y="3556000"/>
            <a:ext cx="2159000" cy="203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承载实际动作的函数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223000" y="1752600"/>
            <a:ext cx="5334000" cy="2222500"/>
          </a:xfrm>
          <a:prstGeom prst="roundRect">
            <a:avLst>
              <a:gd name="adj" fmla="val 5714"/>
            </a:avLst>
          </a:prstGeom>
          <a:solidFill>
            <a:srgbClr val="FFFFFF">
              <a:alpha val="3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477000" y="1905000"/>
            <a:ext cx="3810000" cy="355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执行管线 · 四步流程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477000" y="2260600"/>
            <a:ext cx="4826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校验 → 拦截 → 执行 → 回填，每一步都可扩展和定制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477000" y="2641600"/>
            <a:ext cx="1143000" cy="1168400"/>
          </a:xfrm>
          <a:prstGeom prst="roundRect">
            <a:avLst>
              <a:gd name="adj" fmla="val 6666"/>
            </a:avLst>
          </a:prstGeom>
          <a:solidFill>
            <a:srgbClr val="3B82F6">
              <a:alpha val="10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477000" y="2743200"/>
            <a:ext cx="1143000" cy="279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477000" y="3048000"/>
            <a:ext cx="1143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校验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540500" y="3327400"/>
            <a:ext cx="1016000" cy="431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9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参数校验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658100" y="3111500"/>
            <a:ext cx="2032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4A3B8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7899400" y="2641600"/>
            <a:ext cx="1143000" cy="1168400"/>
          </a:xfrm>
          <a:prstGeom prst="roundRect">
            <a:avLst>
              <a:gd name="adj" fmla="val 6666"/>
            </a:avLst>
          </a:prstGeom>
          <a:solidFill>
            <a:srgbClr val="3B82F6">
              <a:alpha val="10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7899400" y="2743200"/>
            <a:ext cx="1143000" cy="279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7899400" y="3048000"/>
            <a:ext cx="1143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拦截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7962900" y="3327400"/>
            <a:ext cx="1016000" cy="431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9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权限/审计/限流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9080500" y="3111500"/>
            <a:ext cx="2032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4A3B8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9321800" y="2641600"/>
            <a:ext cx="1143000" cy="1168400"/>
          </a:xfrm>
          <a:prstGeom prst="roundRect">
            <a:avLst>
              <a:gd name="adj" fmla="val 6666"/>
            </a:avLst>
          </a:prstGeom>
          <a:solidFill>
            <a:srgbClr val="3B82F6">
              <a:alpha val="10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9321800" y="2743200"/>
            <a:ext cx="1143000" cy="279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9321800" y="3048000"/>
            <a:ext cx="1143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9385300" y="3327400"/>
            <a:ext cx="1016000" cy="431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9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并行执行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10502900" y="3111500"/>
            <a:ext cx="2032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4A3B8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10744200" y="2641600"/>
            <a:ext cx="812800" cy="1168400"/>
          </a:xfrm>
          <a:prstGeom prst="roundRect">
            <a:avLst>
              <a:gd name="adj" fmla="val 9375"/>
            </a:avLst>
          </a:prstGeom>
          <a:solidFill>
            <a:srgbClr val="10B981">
              <a:alpha val="1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2" name="AutoShape 42"/>
          <p:cNvSpPr/>
          <p:nvPr/>
        </p:nvSpPr>
        <p:spPr>
          <a:xfrm>
            <a:off x="10744200" y="2743200"/>
            <a:ext cx="812800" cy="279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10744200" y="3048000"/>
            <a:ext cx="8128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回填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10782300" y="3327400"/>
            <a:ext cx="736600" cy="431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9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结果写入历史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635000" y="4229100"/>
            <a:ext cx="10922000" cy="2324100"/>
          </a:xfrm>
          <a:prstGeom prst="roundRect">
            <a:avLst>
              <a:gd name="adj" fmla="val 5464"/>
            </a:avLst>
          </a:prstGeom>
          <a:solidFill>
            <a:srgbClr val="FFFFFF">
              <a:alpha val="3000"/>
            </a:srgbClr>
          </a:solidFill>
          <a:ln w="12700" cap="flat" cmpd="sng">
            <a:solidFill>
              <a:srgbClr val="FFFFFF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6" name="AutoShape 46"/>
          <p:cNvSpPr/>
          <p:nvPr/>
        </p:nvSpPr>
        <p:spPr>
          <a:xfrm>
            <a:off x="889000" y="4381500"/>
            <a:ext cx="3810000" cy="355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关键设计特性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889000" y="4889500"/>
            <a:ext cx="3302000" cy="1460500"/>
          </a:xfrm>
          <a:prstGeom prst="roundRect">
            <a:avLst>
              <a:gd name="adj" fmla="val 6956"/>
            </a:avLst>
          </a:prstGeom>
          <a:solidFill>
            <a:srgbClr val="3B82F6">
              <a:alpha val="6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8" name="Picture 4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7600" y="5080000"/>
            <a:ext cx="304800" cy="304800"/>
          </a:xfrm>
          <a:prstGeom prst="rect">
            <a:avLst/>
          </a:prstGeom>
        </p:spPr>
      </p:pic>
      <p:sp>
        <p:nvSpPr>
          <p:cNvPr id="49" name="AutoShape 49"/>
          <p:cNvSpPr/>
          <p:nvPr/>
        </p:nvSpPr>
        <p:spPr>
          <a:xfrm>
            <a:off x="1524000" y="5080000"/>
            <a:ext cx="25400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并行工具调用</a:t>
            </a:r>
            <a:endParaRPr lang="en-US" sz="1100"/>
          </a:p>
        </p:txBody>
      </p:sp>
      <p:sp>
        <p:nvSpPr>
          <p:cNvPr id="50" name="AutoShape 50"/>
          <p:cNvSpPr/>
          <p:nvPr/>
        </p:nvSpPr>
        <p:spPr>
          <a:xfrm>
            <a:off x="1117600" y="5486400"/>
            <a:ext cx="2921000" cy="762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模型可在一次回复中声明多个工具调用，运行时并行执行，全部完成后统一回填，显著提升多步任务效率。</a:t>
            </a:r>
            <a:endParaRPr lang="en-US" sz="1100"/>
          </a:p>
        </p:txBody>
      </p:sp>
      <p:sp>
        <p:nvSpPr>
          <p:cNvPr id="51" name="AutoShape 51"/>
          <p:cNvSpPr/>
          <p:nvPr/>
        </p:nvSpPr>
        <p:spPr>
          <a:xfrm>
            <a:off x="4445000" y="4889500"/>
            <a:ext cx="3302000" cy="1460500"/>
          </a:xfrm>
          <a:prstGeom prst="roundRect">
            <a:avLst>
              <a:gd name="adj" fmla="val 6956"/>
            </a:avLst>
          </a:prstGeom>
          <a:solidFill>
            <a:srgbClr val="3B82F6">
              <a:alpha val="6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2" name="Picture 5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73600" y="5080000"/>
            <a:ext cx="304800" cy="304800"/>
          </a:xfrm>
          <a:prstGeom prst="rect">
            <a:avLst/>
          </a:prstGeom>
        </p:spPr>
      </p:pic>
      <p:sp>
        <p:nvSpPr>
          <p:cNvPr id="53" name="AutoShape 53"/>
          <p:cNvSpPr/>
          <p:nvPr/>
        </p:nvSpPr>
        <p:spPr>
          <a:xfrm>
            <a:off x="5080000" y="5080000"/>
            <a:ext cx="25400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拦截器链扩展</a:t>
            </a:r>
            <a:endParaRPr lang="en-US" sz="1100"/>
          </a:p>
        </p:txBody>
      </p:sp>
      <p:sp>
        <p:nvSpPr>
          <p:cNvPr id="54" name="AutoShape 54"/>
          <p:cNvSpPr/>
          <p:nvPr/>
        </p:nvSpPr>
        <p:spPr>
          <a:xfrm>
            <a:off x="4673600" y="5486400"/>
            <a:ext cx="2921000" cy="762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执行前可插入多个拦截器：权限校验、操作审计、调用限流、危险操作确认等，确保工具调用安全可控。</a:t>
            </a:r>
            <a:endParaRPr lang="en-US" sz="1100"/>
          </a:p>
        </p:txBody>
      </p:sp>
      <p:sp>
        <p:nvSpPr>
          <p:cNvPr id="55" name="AutoShape 55"/>
          <p:cNvSpPr/>
          <p:nvPr/>
        </p:nvSpPr>
        <p:spPr>
          <a:xfrm>
            <a:off x="8001000" y="4889500"/>
            <a:ext cx="3302000" cy="1460500"/>
          </a:xfrm>
          <a:prstGeom prst="roundRect">
            <a:avLst>
              <a:gd name="adj" fmla="val 6956"/>
            </a:avLst>
          </a:prstGeom>
          <a:solidFill>
            <a:srgbClr val="3B82F6">
              <a:alpha val="6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6" name="Picture 5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0" y="5080000"/>
            <a:ext cx="304800" cy="304800"/>
          </a:xfrm>
          <a:prstGeom prst="rect">
            <a:avLst/>
          </a:prstGeom>
        </p:spPr>
      </p:pic>
      <p:sp>
        <p:nvSpPr>
          <p:cNvPr id="57" name="AutoShape 57"/>
          <p:cNvSpPr/>
          <p:nvPr/>
        </p:nvSpPr>
        <p:spPr>
          <a:xfrm>
            <a:off x="8636000" y="5080000"/>
            <a:ext cx="25400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结构化错误处理</a:t>
            </a:r>
            <a:endParaRPr lang="en-US" sz="1100"/>
          </a:p>
        </p:txBody>
      </p:sp>
      <p:sp>
        <p:nvSpPr>
          <p:cNvPr id="58" name="AutoShape 58"/>
          <p:cNvSpPr/>
          <p:nvPr/>
        </p:nvSpPr>
        <p:spPr>
          <a:xfrm>
            <a:off x="8229600" y="5486400"/>
            <a:ext cx="2921000" cy="762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工具执行失败时，错误信息以结构化方式回填给模型，模型可根据错误信息调整参数重试，或换用其他工具。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793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3048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 w="12700" cap="flat" cmpd="sng">
            <a:solidFill>
              <a:srgbClr val="3B82F6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 2 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176000" y="304800"/>
            <a:ext cx="762000" cy="355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841500" y="279400"/>
            <a:ext cx="7620000" cy="40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pi-agent-core · 怎么实现（三）上下文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889000"/>
            <a:ext cx="10922000" cy="635000"/>
          </a:xfrm>
          <a:prstGeom prst="roundRect">
            <a:avLst>
              <a:gd name="adj" fmla="val 16000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9000" y="889000"/>
            <a:ext cx="10414000" cy="635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核心问题：</a:t>
            </a:r>
            <a:r>
              <a:rPr 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每次请求向模型提供什么？上下文超长如何处置？通过上下文组装 + 消息投影 + 上下文压缩三重机制解决。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" y="1752600"/>
            <a:ext cx="3556000" cy="2349500"/>
          </a:xfrm>
          <a:prstGeom prst="roundRect">
            <a:avLst>
              <a:gd name="adj" fmla="val 5405"/>
            </a:avLst>
          </a:prstGeom>
          <a:solidFill>
            <a:srgbClr val="FFFFFF">
              <a:alpha val="3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35000" y="1752600"/>
            <a:ext cx="3556000" cy="50800"/>
          </a:xfrm>
          <a:prstGeom prst="roundRect">
            <a:avLst>
              <a:gd name="adj" fmla="val 5000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9000" y="20066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71600" y="2006600"/>
            <a:ext cx="2540000" cy="355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上下文组装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89000" y="2489200"/>
            <a:ext cx="3048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每次请求前拼装三部分内容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89000" y="2844800"/>
            <a:ext cx="3048000" cy="355600"/>
          </a:xfrm>
          <a:prstGeom prst="roundRect">
            <a:avLst>
              <a:gd name="adj" fmla="val 14285"/>
            </a:avLst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系统提示词</a:t>
            </a: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身份与行为准则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89000" y="3276600"/>
            <a:ext cx="3048000" cy="355600"/>
          </a:xfrm>
          <a:prstGeom prst="roundRect">
            <a:avLst>
              <a:gd name="adj" fmla="val 14285"/>
            </a:avLst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历史消息</a:t>
            </a: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多轮对话记录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89000" y="3708400"/>
            <a:ext cx="3048000" cy="355600"/>
          </a:xfrm>
          <a:prstGeom prst="roundRect">
            <a:avLst>
              <a:gd name="adj" fmla="val 14285"/>
            </a:avLst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工具定义</a:t>
            </a: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可用工具清单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318000" y="1752600"/>
            <a:ext cx="3556000" cy="2349500"/>
          </a:xfrm>
          <a:prstGeom prst="roundRect">
            <a:avLst>
              <a:gd name="adj" fmla="val 5405"/>
            </a:avLst>
          </a:prstGeom>
          <a:solidFill>
            <a:srgbClr val="FFFFFF">
              <a:alpha val="3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4318000" y="1752600"/>
            <a:ext cx="3556000" cy="50800"/>
          </a:xfrm>
          <a:prstGeom prst="roundRect">
            <a:avLst>
              <a:gd name="adj" fmla="val 5000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20066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5054600" y="2006600"/>
            <a:ext cx="2540000" cy="355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消息投影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572000" y="2489200"/>
            <a:ext cx="3048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扩展消息 → 标准用户消息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572000" y="2844800"/>
            <a:ext cx="3048000" cy="12065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运行时内部存在多种扩展消息类型，进入模型前统一投影为标准用户消息：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</a:t>
            </a:r>
            <a:r>
              <a:rPr lang="en-US" sz="1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bash 输出</a:t>
            </a: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→ 命令执行结果</a:t>
            </a:r>
            <a:endParaRPr lang="en-US" sz="11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</a:t>
            </a:r>
            <a:r>
              <a:rPr lang="en-US" sz="1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压缩摘要</a:t>
            </a: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→ 历史摘要文本</a:t>
            </a:r>
            <a:endParaRPr lang="en-US" sz="11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</a:t>
            </a:r>
            <a:r>
              <a:rPr lang="en-US" sz="1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分支摘要</a:t>
            </a: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→ 分支切换说明</a:t>
            </a:r>
            <a:endParaRPr lang="en-US" sz="11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8001000" y="1752600"/>
            <a:ext cx="3556000" cy="2349500"/>
          </a:xfrm>
          <a:prstGeom prst="roundRect">
            <a:avLst>
              <a:gd name="adj" fmla="val 5405"/>
            </a:avLst>
          </a:prstGeom>
          <a:solidFill>
            <a:srgbClr val="FFFFFF">
              <a:alpha val="3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001000" y="1752600"/>
            <a:ext cx="3556000" cy="50800"/>
          </a:xfrm>
          <a:prstGeom prst="roundRect">
            <a:avLst>
              <a:gd name="adj" fmla="val 5000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0" y="20066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8737600" y="2006600"/>
            <a:ext cx="2540000" cy="355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上下文压缩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255000" y="2489200"/>
            <a:ext cx="3048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超长时自动触发摘要压缩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255000" y="2844800"/>
            <a:ext cx="3048000" cy="12065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当历史消息 token 数超过模型窗口阈值时，自动触发压缩：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保留最近 N 轮完整对话</a:t>
            </a:r>
            <a:endParaRPr lang="en-US" sz="11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更早对话调用模型生成摘要</a:t>
            </a:r>
            <a:endParaRPr lang="en-US" sz="11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摘要 + 近期对话 = 最终上下文</a:t>
            </a:r>
            <a:endParaRPr lang="en-US" sz="11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确保关键信息不丢失</a:t>
            </a:r>
            <a:endParaRPr lang="en-US" sz="11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635000" y="4356100"/>
            <a:ext cx="10922000" cy="2197100"/>
          </a:xfrm>
          <a:prstGeom prst="roundRect">
            <a:avLst>
              <a:gd name="adj" fmla="val 5780"/>
            </a:avLst>
          </a:prstGeom>
          <a:solidFill>
            <a:srgbClr val="FFFFFF">
              <a:alpha val="3000"/>
            </a:srgbClr>
          </a:solidFill>
          <a:ln w="12700" cap="flat" cmpd="sng">
            <a:solidFill>
              <a:srgbClr val="FFFFFF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889000" y="4508500"/>
            <a:ext cx="5080000" cy="355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上下文流转全流程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89000" y="5016500"/>
            <a:ext cx="1968500" cy="1270000"/>
          </a:xfrm>
          <a:prstGeom prst="roundRect">
            <a:avLst>
              <a:gd name="adj" fmla="val 8000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3B82F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889000" y="5143500"/>
            <a:ext cx="19685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接收用户消息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1016000" y="5499100"/>
            <a:ext cx="1714500" cy="6985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用户输入加入对话历史，触发新一轮请求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2895600" y="5524500"/>
            <a:ext cx="254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4A3B8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3200400" y="5016500"/>
            <a:ext cx="1968500" cy="1270000"/>
          </a:xfrm>
          <a:prstGeom prst="roundRect">
            <a:avLst>
              <a:gd name="adj" fmla="val 8000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3B82F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3200400" y="5143500"/>
            <a:ext cx="19685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消息投影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3327400" y="5499100"/>
            <a:ext cx="1714500" cy="6985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扩展消息统一投影为标准用户消息文本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5207000" y="5524500"/>
            <a:ext cx="254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4A3B8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5511800" y="5016500"/>
            <a:ext cx="1968500" cy="1270000"/>
          </a:xfrm>
          <a:prstGeom prst="roundRect">
            <a:avLst>
              <a:gd name="adj" fmla="val 8000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3B82F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AutoShape 39"/>
          <p:cNvSpPr/>
          <p:nvPr/>
        </p:nvSpPr>
        <p:spPr>
          <a:xfrm>
            <a:off x="5511800" y="5143500"/>
            <a:ext cx="19685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超长判断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5638800" y="5499100"/>
            <a:ext cx="1714500" cy="6985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统计 token 数，超过阈值则触发压缩摘要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7518400" y="5524500"/>
            <a:ext cx="254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4A3B8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7823200" y="5016500"/>
            <a:ext cx="1968500" cy="1270000"/>
          </a:xfrm>
          <a:prstGeom prst="roundRect">
            <a:avLst>
              <a:gd name="adj" fmla="val 8000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3B82F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3" name="AutoShape 43"/>
          <p:cNvSpPr/>
          <p:nvPr/>
        </p:nvSpPr>
        <p:spPr>
          <a:xfrm>
            <a:off x="7823200" y="5143500"/>
            <a:ext cx="19685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上下文组装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7874000" y="5499100"/>
            <a:ext cx="1866900" cy="6985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拼装系统提示 + 历史 + 工具定义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9829800" y="5524500"/>
            <a:ext cx="254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4A3B8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10134600" y="5016500"/>
            <a:ext cx="1168400" cy="1270000"/>
          </a:xfrm>
          <a:prstGeom prst="roundRect">
            <a:avLst>
              <a:gd name="adj" fmla="val 8695"/>
            </a:avLst>
          </a:prstGeom>
          <a:solidFill>
            <a:srgbClr val="10B981">
              <a:alpha val="1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7" name="AutoShape 47"/>
          <p:cNvSpPr/>
          <p:nvPr/>
        </p:nvSpPr>
        <p:spPr>
          <a:xfrm>
            <a:off x="10134600" y="5270500"/>
            <a:ext cx="11684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5. 调用模型</a:t>
            </a:r>
            <a:endParaRPr lang="en-US" sz="1100"/>
          </a:p>
        </p:txBody>
      </p:sp>
      <p:sp>
        <p:nvSpPr>
          <p:cNvPr id="48" name="AutoShape 48"/>
          <p:cNvSpPr/>
          <p:nvPr/>
        </p:nvSpPr>
        <p:spPr>
          <a:xfrm>
            <a:off x="10160000" y="5626100"/>
            <a:ext cx="1117600" cy="5715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统一调用模型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79300" cy="762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3048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8B5CF6">
              <a:alpha val="15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 3 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176000" y="304800"/>
            <a:ext cx="762000" cy="355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09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841500" y="279400"/>
            <a:ext cx="6350000" cy="40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pi-coding-agent · 是什么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889000"/>
            <a:ext cx="10922000" cy="1016000"/>
          </a:xfrm>
          <a:prstGeom prst="roundRect">
            <a:avLst>
              <a:gd name="adj" fmla="val 12500"/>
            </a:avLst>
          </a:prstGeom>
          <a:solidFill>
            <a:srgbClr val="8B5CF6">
              <a:alpha val="8000"/>
            </a:srgbClr>
          </a:solidFill>
          <a:ln w="12700" cap="flat" cmpd="sng">
            <a:solidFill>
              <a:srgbClr val="8B5CF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9000" y="990600"/>
            <a:ext cx="10414000" cy="330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应用编排层：将运行时组装为可用的编码智能体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1346200"/>
            <a:ext cx="10414000" cy="482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负责交互界面、系统提示、会话持久化、技能与扩展，是用户直接使用的层。它把 pi-agent-core 的引擎能力封装成完整的产品，让用户可以通过终端直接与智能体交互。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" y="2133600"/>
            <a:ext cx="26035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35000" y="2133600"/>
            <a:ext cx="2603500" cy="50800"/>
          </a:xfrm>
          <a:prstGeom prst="roundRect">
            <a:avLst>
              <a:gd name="adj" fmla="val 5000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9000" y="23495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889000" y="2794000"/>
            <a:ext cx="21590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完整 CLI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89000" y="3149600"/>
            <a:ext cx="2159000" cy="889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终端对话界面，支持斜杠命令、会话切换、模型选择、流式输出渲染，提供完整的交互体验。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403600" y="2133600"/>
            <a:ext cx="26035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3403600" y="2133600"/>
            <a:ext cx="2603500" cy="50800"/>
          </a:xfrm>
          <a:prstGeom prst="roundRect">
            <a:avLst>
              <a:gd name="adj" fmla="val 5000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00" y="23495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3657600" y="2794000"/>
            <a:ext cx="21590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系统提示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3657600" y="3149600"/>
            <a:ext cx="2159000" cy="889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拼装身份设定、工具清单、行为准则、项目说明（AGENTS.md）、技能清单，定义智能体的行为边界。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172200" y="2133600"/>
            <a:ext cx="26035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172200" y="2133600"/>
            <a:ext cx="2603500" cy="50800"/>
          </a:xfrm>
          <a:prstGeom prst="roundRect">
            <a:avLst>
              <a:gd name="adj" fmla="val 5000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26200" y="23495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426200" y="2794000"/>
            <a:ext cx="21590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会话持久化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26200" y="3149600"/>
            <a:ext cx="2159000" cy="889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会话保存 / 恢复 / 分支 / 回溯，支持跨项目复制。完整记录对话历史，随时可以回到任意节点。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940800" y="2133600"/>
            <a:ext cx="26162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940800" y="2133600"/>
            <a:ext cx="2616200" cy="50800"/>
          </a:xfrm>
          <a:prstGeom prst="roundRect">
            <a:avLst>
              <a:gd name="adj" fmla="val 5000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94800" y="2349500"/>
            <a:ext cx="355600" cy="3556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9194800" y="2794000"/>
            <a:ext cx="21590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扩展系统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194800" y="3149600"/>
            <a:ext cx="2159000" cy="889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钩子机制、自定义命令、动态工具注册、技能与主题，让用户可以按需扩展智能体的能力。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35000" y="4419600"/>
            <a:ext cx="10922000" cy="2133600"/>
          </a:xfrm>
          <a:prstGeom prst="roundRect">
            <a:avLst>
              <a:gd name="adj" fmla="val 5952"/>
            </a:avLst>
          </a:prstGeom>
          <a:solidFill>
            <a:srgbClr val="FFFFFF">
              <a:alpha val="3000"/>
            </a:srgbClr>
          </a:solidFill>
          <a:ln w="12700" cap="flat" cmpd="sng">
            <a:solidFill>
              <a:srgbClr val="FFFFFF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889000" y="4546600"/>
            <a:ext cx="25400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解决的核心问题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952500" y="5029200"/>
            <a:ext cx="101600" cy="101600"/>
          </a:xfrm>
          <a:prstGeom prst="ellipse">
            <a:avLst/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1181100" y="4927600"/>
            <a:ext cx="10160000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运行时只是引擎，不是产品</a:t>
            </a: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—— pi-agent-core 提供了循环和工具调用的核心能力，但没有用户界面、没有会话管理、没有系统提示。应用编排层把这些能力组装成用户可以直接使用的完整产品。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952500" y="5588000"/>
            <a:ext cx="101600" cy="101600"/>
          </a:xfrm>
          <a:prstGeom prst="ellipse">
            <a:avLst/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1181100" y="5486400"/>
            <a:ext cx="10160000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编码场景需要特定的行为约束</a:t>
            </a: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—— 编码智能体需要知道项目结构、编码规范、可用工具、安全边界。系统提示词构建机制把这些信息动态拼装，让智能体在正确的约束下工作。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952500" y="6146800"/>
            <a:ext cx="101600" cy="101600"/>
          </a:xfrm>
          <a:prstGeom prst="ellipse">
            <a:avLst/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1181100" y="6045200"/>
            <a:ext cx="10160000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用户需要可扩展的能力</a:t>
            </a: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—— 不同项目、不同用户有不同的需求。扩展系统通过钩子、自定义命令、动态工具、技能等机制，让用户可以按需扩展智能体能力，而不需要修改核心代码。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79300" cy="762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3048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8B5CF6">
              <a:alpha val="15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 3 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176000" y="304800"/>
            <a:ext cx="762000" cy="355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841500" y="279400"/>
            <a:ext cx="6350000" cy="40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pi-coding-agent · 怎么实现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889000"/>
            <a:ext cx="10922000" cy="635000"/>
          </a:xfrm>
          <a:prstGeom prst="roundRect">
            <a:avLst>
              <a:gd name="adj" fmla="val 16000"/>
            </a:avLst>
          </a:prstGeom>
          <a:solidFill>
            <a:srgbClr val="8B5CF6">
              <a:alpha val="8000"/>
            </a:srgbClr>
          </a:solidFill>
          <a:ln w="12700" cap="flat" cmpd="sng">
            <a:solidFill>
              <a:srgbClr val="8B5C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9000" y="889000"/>
            <a:ext cx="10414000" cy="635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核心问题：</a:t>
            </a:r>
            <a:r>
              <a:rPr 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运行时仅提供循环与工具，如何组装为完整智能体产品？通过 AgentSession 编排核心 + 系统提示词构建 + 事件驱动扩展实现。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" y="1752600"/>
            <a:ext cx="5334000" cy="2222500"/>
          </a:xfrm>
          <a:prstGeom prst="roundRect">
            <a:avLst>
              <a:gd name="adj" fmla="val 5714"/>
            </a:avLst>
          </a:prstGeom>
          <a:solidFill>
            <a:srgbClr val="FFFFFF">
              <a:alpha val="3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89000" y="1905000"/>
            <a:ext cx="4826000" cy="355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AgentSession · 编排核心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99000" y="193040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8B5CF6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订阅事件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89000" y="2349500"/>
            <a:ext cx="4826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订阅运行时事件，自动完成各类编排工作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89000" y="2730500"/>
            <a:ext cx="4826000" cy="330200"/>
          </a:xfrm>
          <a:prstGeom prst="roundRect">
            <a:avLst>
              <a:gd name="adj" fmla="val 15384"/>
            </a:avLst>
          </a:prstGeom>
          <a:solidFill>
            <a:srgbClr val="8B5CF6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会话持久化</a:t>
            </a: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事件触发时自动保存对话状态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89000" y="3136900"/>
            <a:ext cx="4826000" cy="330200"/>
          </a:xfrm>
          <a:prstGeom prst="roundRect">
            <a:avLst>
              <a:gd name="adj" fmla="val 15384"/>
            </a:avLst>
          </a:prstGeom>
          <a:solidFill>
            <a:srgbClr val="8B5CF6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扩展转发</a:t>
            </a: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钩子事件转发给已注册的扩展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89000" y="3543300"/>
            <a:ext cx="4826000" cy="330200"/>
          </a:xfrm>
          <a:prstGeom prst="roundRect">
            <a:avLst>
              <a:gd name="adj" fmla="val 15384"/>
            </a:avLst>
          </a:prstGeom>
          <a:solidFill>
            <a:srgbClr val="8B5CF6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压缩触发</a:t>
            </a: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上下文超长时自动触发摘要压缩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1752600"/>
            <a:ext cx="5334000" cy="2222500"/>
          </a:xfrm>
          <a:prstGeom prst="roundRect">
            <a:avLst>
              <a:gd name="adj" fmla="val 5714"/>
            </a:avLst>
          </a:prstGeom>
          <a:solidFill>
            <a:srgbClr val="FFFFFF">
              <a:alpha val="3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477000" y="1905000"/>
            <a:ext cx="4826000" cy="355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系统提示词构建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287000" y="193040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8B5CF6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动态拼装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2349500"/>
            <a:ext cx="4826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每次请求前动态拼装五部分内容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2730500"/>
            <a:ext cx="2349500" cy="330200"/>
          </a:xfrm>
          <a:prstGeom prst="roundRect">
            <a:avLst>
              <a:gd name="adj" fmla="val 15384"/>
            </a:avLst>
          </a:prstGeom>
          <a:solidFill>
            <a:srgbClr val="8B5CF6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身份设定</a:t>
            </a: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智能体角色与能力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953500" y="2730500"/>
            <a:ext cx="2349500" cy="330200"/>
          </a:xfrm>
          <a:prstGeom prst="roundRect">
            <a:avLst>
              <a:gd name="adj" fmla="val 15384"/>
            </a:avLst>
          </a:prstGeom>
          <a:solidFill>
            <a:srgbClr val="8B5CF6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工具清单</a:t>
            </a: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可用工具描述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77000" y="3136900"/>
            <a:ext cx="2349500" cy="330200"/>
          </a:xfrm>
          <a:prstGeom prst="roundRect">
            <a:avLst>
              <a:gd name="adj" fmla="val 15384"/>
            </a:avLst>
          </a:prstGeom>
          <a:solidFill>
            <a:srgbClr val="8B5CF6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行为准则</a:t>
            </a: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安全与规范约束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953500" y="3136900"/>
            <a:ext cx="2349500" cy="330200"/>
          </a:xfrm>
          <a:prstGeom prst="roundRect">
            <a:avLst>
              <a:gd name="adj" fmla="val 15384"/>
            </a:avLst>
          </a:prstGeom>
          <a:solidFill>
            <a:srgbClr val="8B5CF6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项目说明</a:t>
            </a: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AGENTS.md 内容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77000" y="3543300"/>
            <a:ext cx="4826000" cy="330200"/>
          </a:xfrm>
          <a:prstGeom prst="roundRect">
            <a:avLst>
              <a:gd name="adj" fmla="val 15384"/>
            </a:avLst>
          </a:prstGeom>
          <a:solidFill>
            <a:srgbClr val="8B5CF6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技能清单</a:t>
            </a: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已启用技能的说明与使用方式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35000" y="4229100"/>
            <a:ext cx="10922000" cy="2324100"/>
          </a:xfrm>
          <a:prstGeom prst="roundRect">
            <a:avLst>
              <a:gd name="adj" fmla="val 5464"/>
            </a:avLst>
          </a:prstGeom>
          <a:solidFill>
            <a:srgbClr val="FFFFFF">
              <a:alpha val="3000"/>
            </a:srgbClr>
          </a:solidFill>
          <a:ln w="12700" cap="flat" cmpd="sng">
            <a:solidFill>
              <a:srgbClr val="FFFFFF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89000" y="4381500"/>
            <a:ext cx="5080000" cy="355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发消息前的预处理流程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89000" y="4889500"/>
            <a:ext cx="1968500" cy="1397000"/>
          </a:xfrm>
          <a:prstGeom prst="roundRect">
            <a:avLst>
              <a:gd name="adj" fmla="val 7272"/>
            </a:avLst>
          </a:prstGeom>
          <a:solidFill>
            <a:srgbClr val="8B5CF6">
              <a:alpha val="8000"/>
            </a:srgbClr>
          </a:solidFill>
          <a:ln w="12700" cap="flat" cmpd="sng">
            <a:solidFill>
              <a:srgbClr val="8B5CF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89000" y="5016500"/>
            <a:ext cx="19685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命令展开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016000" y="5372100"/>
            <a:ext cx="1714500" cy="8255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斜杠命令和技能模板展开为实际的用户消息内容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2895600" y="5461000"/>
            <a:ext cx="254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4A3B8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3200400" y="4889500"/>
            <a:ext cx="1968500" cy="1397000"/>
          </a:xfrm>
          <a:prstGeom prst="roundRect">
            <a:avLst>
              <a:gd name="adj" fmla="val 7272"/>
            </a:avLst>
          </a:prstGeom>
          <a:solidFill>
            <a:srgbClr val="8B5CF6">
              <a:alpha val="8000"/>
            </a:srgbClr>
          </a:solidFill>
          <a:ln w="12700" cap="flat" cmpd="sng">
            <a:solidFill>
              <a:srgbClr val="8B5CF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3200400" y="5016500"/>
            <a:ext cx="19685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鉴权校验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3327400" y="5372100"/>
            <a:ext cx="1714500" cy="8255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检查登录状态、API Key 有效性，未登录则引导登录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5207000" y="5461000"/>
            <a:ext cx="254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4A3B8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5511800" y="4889500"/>
            <a:ext cx="1968500" cy="1397000"/>
          </a:xfrm>
          <a:prstGeom prst="roundRect">
            <a:avLst>
              <a:gd name="adj" fmla="val 7272"/>
            </a:avLst>
          </a:prstGeom>
          <a:solidFill>
            <a:srgbClr val="8B5CF6">
              <a:alpha val="8000"/>
            </a:srgbClr>
          </a:solidFill>
          <a:ln w="12700" cap="flat" cmpd="sng">
            <a:solidFill>
              <a:srgbClr val="8B5CF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5511800" y="5016500"/>
            <a:ext cx="19685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模型校验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5638800" y="5372100"/>
            <a:ext cx="1714500" cy="8255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确认当前模型可用，检查上下文窗口、能力是否匹配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7518400" y="5461000"/>
            <a:ext cx="254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4A3B8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7823200" y="4889500"/>
            <a:ext cx="1968500" cy="1397000"/>
          </a:xfrm>
          <a:prstGeom prst="roundRect">
            <a:avLst>
              <a:gd name="adj" fmla="val 7272"/>
            </a:avLst>
          </a:prstGeom>
          <a:solidFill>
            <a:srgbClr val="8B5CF6">
              <a:alpha val="8000"/>
            </a:srgbClr>
          </a:solidFill>
          <a:ln w="12700" cap="flat" cmpd="sng">
            <a:solidFill>
              <a:srgbClr val="8B5CF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AutoShape 39"/>
          <p:cNvSpPr/>
          <p:nvPr/>
        </p:nvSpPr>
        <p:spPr>
          <a:xfrm>
            <a:off x="7823200" y="5016500"/>
            <a:ext cx="19685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提交运行时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7950200" y="5372100"/>
            <a:ext cx="1714500" cy="8255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交给 pi-agent-core 启动循环，订阅事件驱动 UI 渲染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9829800" y="5461000"/>
            <a:ext cx="254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4A3B8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10134600" y="4889500"/>
            <a:ext cx="1168400" cy="1397000"/>
          </a:xfrm>
          <a:prstGeom prst="roundRect">
            <a:avLst>
              <a:gd name="adj" fmla="val 8695"/>
            </a:avLst>
          </a:prstGeom>
          <a:solidFill>
            <a:srgbClr val="10B981">
              <a:alpha val="1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3" name="AutoShape 43"/>
          <p:cNvSpPr/>
          <p:nvPr/>
        </p:nvSpPr>
        <p:spPr>
          <a:xfrm>
            <a:off x="10134600" y="5143500"/>
            <a:ext cx="11684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5. 错误重试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10160000" y="5499100"/>
            <a:ext cx="1117600" cy="6985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9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自动重试，指数退避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793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10B981">
                  <a:alpha val="100000"/>
                </a:srgbClr>
              </a:gs>
              <a:gs pos="50000">
                <a:srgbClr val="3B82F6">
                  <a:alpha val="100000"/>
                </a:srgbClr>
              </a:gs>
              <a:gs pos="100000">
                <a:srgbClr val="8B5CF6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1176000" y="304800"/>
            <a:ext cx="762000" cy="355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11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35000" y="279400"/>
            <a:ext cx="6350000" cy="40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三层如何协作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35000" y="787400"/>
            <a:ext cx="10922000" cy="355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一条用户请求自上而下穿过三层，再自下而上回流，形成完整的请求-响应闭环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1333500"/>
            <a:ext cx="10922000" cy="698500"/>
          </a:xfrm>
          <a:prstGeom prst="roundRect">
            <a:avLst>
              <a:gd name="adj" fmla="val 14545"/>
            </a:avLst>
          </a:prstGeom>
          <a:solidFill>
            <a:srgbClr val="8B5CF6">
              <a:alpha val="8000"/>
            </a:srgbClr>
          </a:solidFill>
          <a:ln w="12700" cap="flat" cmpd="sng">
            <a:solidFill>
              <a:srgbClr val="8B5CF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63600" y="1498600"/>
            <a:ext cx="381000" cy="381000"/>
          </a:xfrm>
          <a:prstGeom prst="ellipse">
            <a:avLst/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63600" y="1498600"/>
            <a:ext cx="381000" cy="381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460500" y="1422400"/>
            <a:ext cx="2540000" cy="279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用户在 L3 输入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460500" y="1701800"/>
            <a:ext cx="9906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交互层接收用户指令，展开技能 / 模板，校验登录状态与模型可用性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5000" y="2159000"/>
            <a:ext cx="10922000" cy="698500"/>
          </a:xfrm>
          <a:prstGeom prst="roundRect">
            <a:avLst>
              <a:gd name="adj" fmla="val 14545"/>
            </a:avLst>
          </a:prstGeom>
          <a:solidFill>
            <a:srgbClr val="8B5CF6">
              <a:alpha val="8000"/>
            </a:srgbClr>
          </a:solidFill>
          <a:ln w="12700" cap="flat" cmpd="sng">
            <a:solidFill>
              <a:srgbClr val="8B5CF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63600" y="2324100"/>
            <a:ext cx="381000" cy="381000"/>
          </a:xfrm>
          <a:prstGeom prst="ellipse">
            <a:avLst/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63600" y="2324100"/>
            <a:ext cx="381000" cy="381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460500" y="2247900"/>
            <a:ext cx="2540000" cy="279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L3 组装上下文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460500" y="2527300"/>
            <a:ext cx="9906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拼装系统提示词（身份 + 工具清单 + 行为准则 + 项目说明 + 技能）+ 历史对话 + 工具定义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5000" y="2984500"/>
            <a:ext cx="10922000" cy="698500"/>
          </a:xfrm>
          <a:prstGeom prst="roundRect">
            <a:avLst>
              <a:gd name="adj" fmla="val 14545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3B82F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63600" y="3149600"/>
            <a:ext cx="381000" cy="381000"/>
          </a:xfrm>
          <a:prstGeom prst="ellipse">
            <a:avLst/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63600" y="3149600"/>
            <a:ext cx="381000" cy="381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460500" y="3073400"/>
            <a:ext cx="2540000" cy="279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L2 启动循环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460500" y="3352800"/>
            <a:ext cx="9906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运行时进入双层循环，将组装好的上下文交给模型，开始多轮推理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35000" y="3810000"/>
            <a:ext cx="10922000" cy="698500"/>
          </a:xfrm>
          <a:prstGeom prst="roundRect">
            <a:avLst>
              <a:gd name="adj" fmla="val 14545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3B82F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63600" y="3975100"/>
            <a:ext cx="381000" cy="381000"/>
          </a:xfrm>
          <a:prstGeom prst="ellipse">
            <a:avLst/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63600" y="3975100"/>
            <a:ext cx="381000" cy="381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460500" y="3898900"/>
            <a:ext cx="2540000" cy="279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L2 执行工具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460500" y="4178300"/>
            <a:ext cx="9906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模型声明工具调用时，走「校验 → 拦截 → 执行 → 回填」管线，支持并行执行多个工具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35000" y="4635500"/>
            <a:ext cx="10922000" cy="698500"/>
          </a:xfrm>
          <a:prstGeom prst="roundRect">
            <a:avLst>
              <a:gd name="adj" fmla="val 14545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63600" y="4800600"/>
            <a:ext cx="381000" cy="3810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863600" y="4800600"/>
            <a:ext cx="381000" cy="381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1460500" y="4724400"/>
            <a:ext cx="2540000" cy="279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L1 统一调用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1460500" y="5003800"/>
            <a:ext cx="9906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模型层屏蔽供应商差异，统一发出流式请求，处理鉴权、重试、限流等横切关注点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35000" y="5461000"/>
            <a:ext cx="10922000" cy="698500"/>
          </a:xfrm>
          <a:prstGeom prst="roundRect">
            <a:avLst>
              <a:gd name="adj" fmla="val 14545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863600" y="5626100"/>
            <a:ext cx="381000" cy="3810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863600" y="5626100"/>
            <a:ext cx="381000" cy="381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1460500" y="5549900"/>
            <a:ext cx="3175000" cy="279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流式回流 + 渲染保存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1460500" y="5829300"/>
            <a:ext cx="9906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事件自下而上回流：L1 流式事件 → L2 循环事件 → L3 渲染到终端并写入会话持久化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635000" y="6324600"/>
            <a:ext cx="10922000" cy="406400"/>
          </a:xfrm>
          <a:prstGeom prst="roundRect">
            <a:avLst>
              <a:gd name="adj" fmla="val 18750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889000" y="6324600"/>
            <a:ext cx="10414000" cy="40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关键点：</a:t>
            </a: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三层之间仅通过统一消息与统一事件交互，任一层更换实现（如换模型供应商、换运行时引擎、换交互界面），其余两层不受影响。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793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10B981">
                  <a:alpha val="100000"/>
                </a:srgbClr>
              </a:gs>
              <a:gs pos="50000">
                <a:srgbClr val="3B82F6">
                  <a:alpha val="100000"/>
                </a:srgbClr>
              </a:gs>
              <a:gs pos="100000">
                <a:srgbClr val="8B5CF6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1176000" y="304800"/>
            <a:ext cx="762000" cy="355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12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35000" y="279400"/>
            <a:ext cx="6350000" cy="40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三层核心功能速查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35000" y="787400"/>
            <a:ext cx="10922000" cy="355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一张表快速回顾三层架构的定位、核心职责与关键能力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1333500"/>
            <a:ext cx="10922000" cy="635000"/>
          </a:xfrm>
          <a:prstGeom prst="roundRect">
            <a:avLst>
              <a:gd name="adj" fmla="val 1200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FFFFFF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9000" y="1333500"/>
            <a:ext cx="2286000" cy="635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层级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429000" y="1333500"/>
            <a:ext cx="2794000" cy="635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是什么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1333500"/>
            <a:ext cx="4826000" cy="635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5000" y="2095500"/>
            <a:ext cx="10922000" cy="1270000"/>
          </a:xfrm>
          <a:prstGeom prst="roundRect">
            <a:avLst>
              <a:gd name="adj" fmla="val 6000"/>
            </a:avLst>
          </a:prstGeom>
          <a:solidFill>
            <a:srgbClr val="10B981">
              <a:alpha val="5000"/>
            </a:srgbClr>
          </a:solidFill>
          <a:ln w="12700" cap="flat" cmpd="sng">
            <a:solidFill>
              <a:srgbClr val="10B981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35000" y="2095500"/>
            <a:ext cx="76200" cy="1270000"/>
          </a:xfrm>
          <a:prstGeom prst="roundRect">
            <a:avLst>
              <a:gd name="adj" fmla="val 5000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349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435100" y="2286000"/>
            <a:ext cx="1778000" cy="330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pi-ai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435100" y="2641600"/>
            <a:ext cx="1778000" cy="279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模型抽象层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429000" y="2095500"/>
            <a:ext cx="2794000" cy="1270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统一多供应商模型接口，屏蔽 OpenAI / Anthropic / Google 等差异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77000" y="2095500"/>
            <a:ext cx="4826000" cy="1270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统一模型调用（发消息 → 收流式回复）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40+ 多供应商支持，切换仅改配置</a:t>
            </a:r>
            <a:endParaRPr lang="en-US" sz="13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统一鉴权（API Key / OAuth，自动刷新）</a:t>
            </a:r>
            <a:endParaRPr lang="en-US" sz="13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模型目录管理（生成 / 缓存 / 增量更新）</a:t>
            </a:r>
            <a:endParaRPr lang="en-US" sz="13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35000" y="3492500"/>
            <a:ext cx="10922000" cy="1270000"/>
          </a:xfrm>
          <a:prstGeom prst="roundRect">
            <a:avLst>
              <a:gd name="adj" fmla="val 6000"/>
            </a:avLst>
          </a:prstGeom>
          <a:solidFill>
            <a:srgbClr val="3B82F6">
              <a:alpha val="5000"/>
            </a:srgbClr>
          </a:solidFill>
          <a:ln w="12700" cap="flat" cmpd="sng">
            <a:solidFill>
              <a:srgbClr val="3B82F6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35000" y="3492500"/>
            <a:ext cx="76200" cy="1270000"/>
          </a:xfrm>
          <a:prstGeom prst="roundRect">
            <a:avLst>
              <a:gd name="adj" fmla="val 5000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3746500"/>
            <a:ext cx="355600" cy="355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435100" y="3683000"/>
            <a:ext cx="2286000" cy="330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pi-agent-core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435100" y="4038600"/>
            <a:ext cx="1778000" cy="279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智能体运行时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429000" y="3492500"/>
            <a:ext cx="2794000" cy="1270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智能体引擎：多轮对话循环 + 工具调用，驱动模型持续完成任务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77000" y="3492500"/>
            <a:ext cx="4826000" cy="1270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多轮对话循环（内层工具循环 + 外层消息循环）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工具调用（校验 → 拦截 → 执行 → 回填，支持并行）</a:t>
            </a:r>
            <a:endParaRPr lang="en-US" sz="13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状态与事件（agent/turn/message/tool 四级事件）</a:t>
            </a:r>
            <a:endParaRPr lang="en-US" sz="13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上下文管理（组装 + 消息投影 + 超长压缩）</a:t>
            </a:r>
            <a:endParaRPr lang="en-US" sz="13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35000" y="4889500"/>
            <a:ext cx="10922000" cy="1270000"/>
          </a:xfrm>
          <a:prstGeom prst="roundRect">
            <a:avLst>
              <a:gd name="adj" fmla="val 6000"/>
            </a:avLst>
          </a:prstGeom>
          <a:solidFill>
            <a:srgbClr val="8B5CF6">
              <a:alpha val="5000"/>
            </a:srgbClr>
          </a:solidFill>
          <a:ln w="12700" cap="flat" cmpd="sng">
            <a:solidFill>
              <a:srgbClr val="8B5CF6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35000" y="4889500"/>
            <a:ext cx="76200" cy="1270000"/>
          </a:xfrm>
          <a:prstGeom prst="roundRect">
            <a:avLst>
              <a:gd name="adj" fmla="val 5000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5143500"/>
            <a:ext cx="355600" cy="3556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1435100" y="5080000"/>
            <a:ext cx="2540000" cy="330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pi-coding-agent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435100" y="5435600"/>
            <a:ext cx="1778000" cy="279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应用编排层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3429000" y="4889500"/>
            <a:ext cx="2794000" cy="1270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将运行时组装为可用的编码智能体，用户直接使用的产品层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477000" y="4889500"/>
            <a:ext cx="4826000" cy="1270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完整 CLI（终端对话、命令、会话切换、模型选择）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系统提示词构建（身份 + 工具 + 准则 + 项目 + 技能）</a:t>
            </a:r>
            <a:endParaRPr lang="en-US" sz="13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会话持久化（保存 / 恢复 / 分支 / 回溯 / 跨项目复制）</a:t>
            </a:r>
            <a:endParaRPr lang="en-US" sz="13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扩展系统（钩子、自定义命令、动态工具、技能与主题）</a:t>
            </a:r>
            <a:endParaRPr lang="en-US" sz="13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635000" y="6324600"/>
            <a:ext cx="10922000" cy="406400"/>
          </a:xfrm>
          <a:prstGeom prst="roundRect">
            <a:avLst>
              <a:gd name="adj" fmla="val 18750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5745</Words>
  <Application>WPS 演示</Application>
  <PresentationFormat/>
  <Paragraphs>553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宋体</vt:lpstr>
      <vt:lpstr>Wingdings</vt:lpstr>
      <vt:lpstr>Arial</vt:lpstr>
      <vt:lpstr>Calibri</vt:lpstr>
      <vt:lpstr>Noto Sans SC</vt:lpstr>
      <vt:lpstr>微软雅黑</vt:lpstr>
      <vt:lpstr>Arial Unicode MS</vt:lpstr>
      <vt:lpstr>Office 主题​​</vt:lpstr>
      <vt:lpstr>自定义主题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三旬</cp:lastModifiedBy>
  <cp:revision>1</cp:revision>
  <dcterms:created xsi:type="dcterms:W3CDTF">2026-09-11T02:57:51Z</dcterms:created>
  <dcterms:modified xsi:type="dcterms:W3CDTF">2026-09-11T02:57:51Z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{"Label":"1","ContentProducer":"001191110102MACQD9K64010000","ProduceID":"7684086879659559890","ReservedCode1":"","ContentPropagator":"","PropagateID":"","ReservedCode2":""}</vt:lpwstr>
  </property>
  <property fmtid="{D5CDD505-2E9C-101B-9397-08002B2CF9AE}" pid="3" name="ICV">
    <vt:lpwstr>95514C95CD8348CF8DEDB4351DC299A5_12</vt:lpwstr>
  </property>
  <property fmtid="{D5CDD505-2E9C-101B-9397-08002B2CF9AE}" pid="4" name="KSOProductBuildVer">
    <vt:lpwstr>2052-12.1.0.28505</vt:lpwstr>
  </property>
</Properties>
</file>